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</p:sldMasterIdLst>
  <p:notesMasterIdLst>
    <p:notesMasterId r:id="rId33"/>
  </p:notesMasterIdLst>
  <p:sldIdLst>
    <p:sldId id="567" r:id="rId3"/>
    <p:sldId id="516" r:id="rId4"/>
    <p:sldId id="459" r:id="rId5"/>
    <p:sldId id="455" r:id="rId6"/>
    <p:sldId id="454" r:id="rId7"/>
    <p:sldId id="517" r:id="rId8"/>
    <p:sldId id="518" r:id="rId9"/>
    <p:sldId id="521" r:id="rId10"/>
    <p:sldId id="522" r:id="rId11"/>
    <p:sldId id="523" r:id="rId12"/>
    <p:sldId id="526" r:id="rId13"/>
    <p:sldId id="524" r:id="rId14"/>
    <p:sldId id="568" r:id="rId15"/>
    <p:sldId id="569" r:id="rId16"/>
    <p:sldId id="527" r:id="rId17"/>
    <p:sldId id="528" r:id="rId18"/>
    <p:sldId id="529" r:id="rId19"/>
    <p:sldId id="531" r:id="rId20"/>
    <p:sldId id="530" r:id="rId21"/>
    <p:sldId id="532" r:id="rId22"/>
    <p:sldId id="533" r:id="rId23"/>
    <p:sldId id="534" r:id="rId24"/>
    <p:sldId id="570" r:id="rId25"/>
    <p:sldId id="535" r:id="rId26"/>
    <p:sldId id="536" r:id="rId27"/>
    <p:sldId id="537" r:id="rId28"/>
    <p:sldId id="542" r:id="rId29"/>
    <p:sldId id="538" r:id="rId30"/>
    <p:sldId id="539" r:id="rId31"/>
    <p:sldId id="545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91" autoAdjust="0"/>
    <p:restoredTop sz="88296" autoAdjust="0"/>
  </p:normalViewPr>
  <p:slideViewPr>
    <p:cSldViewPr>
      <p:cViewPr varScale="1">
        <p:scale>
          <a:sx n="78" d="100"/>
          <a:sy n="78" d="100"/>
        </p:scale>
        <p:origin x="1323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A9BDD-BE82-48A3-964D-AD1914B8849E}" type="datetimeFigureOut">
              <a:rPr lang="zh-CN" altLang="en-US" smtClean="0"/>
              <a:pPr/>
              <a:t>2022/11/17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FEC8F-95E8-41C8-8873-451908F7169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861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1EDF00-595B-4DF6-9888-DBA8EAA1AA9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188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日常生活的概念分为清晰还念和不清晰概念</a:t>
            </a:r>
          </a:p>
          <a:p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对于这类模糊现象，过去已有的数学模型难以适用，需要形成新的理论和方法，即在数学和模糊现象间架起一座桥梁。</a:t>
            </a:r>
            <a:endParaRPr lang="en-US" altLang="zh-CN" sz="1200" b="1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这些都需要一门新的数学分支</a:t>
            </a:r>
            <a:r>
              <a:rPr lang="en-US" altLang="zh-CN" sz="1200" b="1" dirty="0"/>
              <a:t>——</a:t>
            </a:r>
            <a:r>
              <a:rPr lang="zh-CN" altLang="en-US" sz="1200" b="1" dirty="0">
                <a:solidFill>
                  <a:srgbClr val="0000CC"/>
                </a:solidFill>
              </a:rPr>
              <a:t>模糊数学</a:t>
            </a:r>
            <a:r>
              <a:rPr lang="zh-CN" altLang="en-US" sz="1200" b="1" dirty="0"/>
              <a:t>来帮助解决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人的大脑具有非凡的判别和处理模糊事物的能力。</a:t>
            </a:r>
          </a:p>
          <a:p>
            <a:pPr lvl="2">
              <a:lnSpc>
                <a:spcPct val="90000"/>
              </a:lnSpc>
            </a:pPr>
            <a:r>
              <a:rPr lang="zh-CN" altLang="en-US" sz="1800" b="1" dirty="0"/>
              <a:t>以</a:t>
            </a:r>
            <a:r>
              <a:rPr lang="zh-CN" altLang="en-US" sz="1800" b="1" dirty="0">
                <a:solidFill>
                  <a:srgbClr val="006600"/>
                </a:solidFill>
              </a:rPr>
              <a:t>孩子识别自己的母亲</a:t>
            </a:r>
            <a:r>
              <a:rPr lang="zh-CN" altLang="en-US" sz="1800" b="1" dirty="0"/>
              <a:t>为例，即使这位母亲更换了 新衣，改变了发式，她的孩子依然会从高矮、胖瘦、音容、姿态等迅速地作出准确判断。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如果这件事让计算机来干：</a:t>
            </a:r>
          </a:p>
          <a:p>
            <a:pPr lvl="2">
              <a:lnSpc>
                <a:spcPct val="90000"/>
              </a:lnSpc>
            </a:pPr>
            <a:r>
              <a:rPr lang="zh-CN" altLang="en-US" sz="1800" b="1" dirty="0"/>
              <a:t>得把这位母亲的身高、体重、行走速度、 外形曲线等等，全都计算到小数点后的十几位，才能着手判断。</a:t>
            </a:r>
          </a:p>
          <a:p>
            <a:pPr lvl="2">
              <a:lnSpc>
                <a:spcPct val="90000"/>
              </a:lnSpc>
            </a:pPr>
            <a:r>
              <a:rPr lang="zh-CN" altLang="en-US" sz="1800" b="1" dirty="0"/>
              <a:t>这样的“精确”实在是事与愿违，走到了事物的反面。</a:t>
            </a:r>
          </a:p>
          <a:p>
            <a:pPr lvl="2">
              <a:lnSpc>
                <a:spcPct val="90000"/>
              </a:lnSpc>
            </a:pPr>
            <a:r>
              <a:rPr lang="zh-CN" altLang="en-US" sz="1800" b="1" dirty="0"/>
              <a:t>说不定就因为这位母亲脸上一时长了一个小疖，该部位的平均高度，比原来高了零点零几毫米，而使计算机作出“拒绝接受”的判断呢？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扎德说：“所面对的系统越复杂，人们对它进行有意义的精确化能力就越低。”</a:t>
            </a:r>
            <a:endParaRPr lang="en-US" altLang="zh-CN" sz="20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504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839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02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/>
              <a:t>可以看出，</a:t>
            </a:r>
            <a:r>
              <a:rPr lang="en-US" altLang="zh-CN" sz="2000" dirty="0"/>
              <a:t>50 </a:t>
            </a:r>
            <a:r>
              <a:rPr lang="zh-CN" altLang="en-US" sz="2000" dirty="0"/>
              <a:t>岁以下的人不属于“年老”，而当年龄超过 </a:t>
            </a:r>
            <a:r>
              <a:rPr lang="en-US" altLang="zh-CN" sz="2000" dirty="0"/>
              <a:t>50 </a:t>
            </a:r>
            <a:r>
              <a:rPr lang="zh-CN" altLang="en-US" sz="2000" dirty="0"/>
              <a:t>岁时，随着岁数的增大，“年老”的隶属程度也越来越大，“人生七十古来稀”，</a:t>
            </a:r>
            <a:r>
              <a:rPr lang="en-US" altLang="zh-CN" sz="2000" dirty="0"/>
              <a:t>70 </a:t>
            </a:r>
            <a:r>
              <a:rPr lang="zh-CN" altLang="en-US" sz="2000" dirty="0"/>
              <a:t>岁的人“年老”的隶属程度已达 </a:t>
            </a:r>
            <a:r>
              <a:rPr lang="en-US" altLang="zh-CN" sz="2000" dirty="0"/>
              <a:t>94</a:t>
            </a:r>
            <a:r>
              <a:rPr lang="zh-CN" altLang="en-US" sz="2000" dirty="0"/>
              <a:t>％，同样，在坐标图中我们可以看到，</a:t>
            </a:r>
            <a:r>
              <a:rPr lang="en-US" altLang="zh-CN" sz="2000" dirty="0"/>
              <a:t>25 </a:t>
            </a:r>
            <a:r>
              <a:rPr lang="zh-CN" altLang="en-US" sz="2000" dirty="0"/>
              <a:t>岁以下的人，“年轻”的隶属程度为 </a:t>
            </a:r>
            <a:r>
              <a:rPr lang="en-US" altLang="zh-CN" sz="2000" dirty="0"/>
              <a:t>100</a:t>
            </a:r>
            <a:r>
              <a:rPr lang="zh-CN" altLang="en-US" sz="2000" dirty="0"/>
              <a:t>％，超过</a:t>
            </a:r>
            <a:r>
              <a:rPr lang="en-US" altLang="zh-CN" sz="2000" dirty="0"/>
              <a:t>25 </a:t>
            </a:r>
            <a:r>
              <a:rPr lang="zh-CN" altLang="en-US" sz="2000" dirty="0"/>
              <a:t>岁，“年轻”的程度越来越小。</a:t>
            </a:r>
            <a:r>
              <a:rPr lang="en-US" altLang="zh-CN" sz="2000" dirty="0"/>
              <a:t>40 </a:t>
            </a:r>
            <a:r>
              <a:rPr lang="zh-CN" altLang="en-US" sz="2000" dirty="0"/>
              <a:t>岁已是“人到中年”，“年轻”的隶属程度只有 </a:t>
            </a:r>
            <a:r>
              <a:rPr lang="en-US" altLang="zh-CN" sz="2000" dirty="0"/>
              <a:t>10</a:t>
            </a:r>
            <a:r>
              <a:rPr lang="zh-CN" altLang="en-US" sz="2000" dirty="0"/>
              <a:t>％。</a:t>
            </a:r>
          </a:p>
          <a:p>
            <a:pPr lvl="1">
              <a:lnSpc>
                <a:spcPct val="90000"/>
              </a:lnSpc>
            </a:pPr>
            <a:endParaRPr lang="zh-CN" altLang="en-US" sz="20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02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352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354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588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376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007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808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758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730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830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926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773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7006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914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1318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7111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5426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2197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1019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0764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5817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489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1968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8069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423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FEC8F-95E8-41C8-8873-451908F71694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05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A87205-D21D-4348-9088-4EF5A1E1B823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5ECE2C-CD65-4234-B0FB-E30A1BB369AC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3093B9-576B-4CC1-AAF8-7E5C4E1305EE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129D2D-85EB-410A-BDD3-2866FAE8CCFD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4B6B6D-20E6-4B60-822D-28C650A8B011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356042-E7C2-4FED-8BE4-E6B797ED2937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FF6F6-9B49-4D92-AFDD-DE7610A0CD12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F704CF-EC05-4DA3-8321-C06E54531184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20BBE-929F-47A5-B58D-730A072140F1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218D86-6C62-4047-8F15-4D2EF77A7962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BA0BD-5CDF-46BE-BBB3-AE5FD2B6E35F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C7A621-BAE1-4F1B-A2EF-477A4DC87733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075235-06C8-4A1A-ACF0-5DF38658787F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3B910A-03B7-40D9-BC78-6FF43BE89A51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06FEFC-E9AB-4263-9F6E-26678F7275ED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87EB1E-B14E-4037-B7FF-865737F082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3761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B2968A-C246-4080-9E75-AF3048CAA715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0F3DC-E6CF-48F7-934A-F431FB508C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1324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F73142-02A1-4704-B9C5-DE4EBC554542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7FC83-8066-4654-8EEE-2C7D03B3EB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95865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47A92F-499F-4B45-B7F2-2C4B4E7DCC3C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78174-64F6-4C42-8A1E-6234C61030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5793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390EBD-FBB6-4518-A3FC-191A8B52CE73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102304-25E7-4908-B533-EEFAEDF931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807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C8C3B2D-6ECC-4C11-BD29-774357C94B3D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7F10C8-BE29-40A7-80F1-051C35551CB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001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8D6166-B095-4F68-87C1-E9DEA4622353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515E0A-FA34-4FAF-8EE7-D090EE56A5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27081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579574-6630-42CC-9675-06F8BC251B9F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64CBC4-3E5D-4145-9F6F-C77E388B8C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547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23BEE0-7976-4A62-8732-A337129D278B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78A1DB-CA29-4741-B6BF-43BBBA14403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0680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639CC1-4F5C-4AC7-9400-2C0FB19FBA2B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5EF4FC-C31C-49D5-BD39-FBBCA2D379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46058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6D6049-6AE3-4E2A-B0D0-4ED3B45811AE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64D56F-EAF5-4454-BA78-5C280A46D6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58487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D5331C4-2A99-4A8C-9D2D-457832DF3A1E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9709A75-4F0D-4A49-824E-DCDCF1A8284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59018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D7A69E0-6633-443C-AB4F-3172E1AA9B37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0AE1A5D-9161-4A9D-908B-A507ED3381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4357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40AF1DE-7DDD-4EEE-8A30-F560063CCCBB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1058BC0-93EB-4E3A-AB24-5E674BEDC0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41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DABB241-F715-4CB5-9040-A7EE18A7312F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E1BCE57-30B1-4606-BF5F-DC7363B81B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8520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355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657600" y="5673725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fld id="{C277D27E-9CFF-4C86-A7FA-11331652B14C}" type="datetime1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2355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200" b="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</a:lstStyle>
          <a:p>
            <a:fld id="{F58209B2-4306-46CD-9424-9DB79656E1A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35527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endParaRPr lang="zh-CN" altLang="en-US" sz="1600" b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>
    <p:zoom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CC33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CC3300"/>
          </a:solidFill>
          <a:latin typeface="黑体" pitchFamily="2" charset="-122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CC3300"/>
          </a:solidFill>
          <a:latin typeface="黑体" pitchFamily="2" charset="-122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CC3300"/>
          </a:solidFill>
          <a:latin typeface="黑体" pitchFamily="2" charset="-122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CC3300"/>
          </a:solidFill>
          <a:latin typeface="黑体" pitchFamily="2" charset="-122"/>
          <a:ea typeface="黑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CC3300"/>
          </a:solidFill>
          <a:latin typeface="黑体" pitchFamily="2" charset="-122"/>
          <a:ea typeface="黑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CC3300"/>
          </a:solidFill>
          <a:latin typeface="黑体" pitchFamily="2" charset="-122"/>
          <a:ea typeface="黑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CC3300"/>
          </a:solidFill>
          <a:latin typeface="黑体" pitchFamily="2" charset="-122"/>
          <a:ea typeface="黑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rgbClr val="CC3300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 b="1">
          <a:solidFill>
            <a:schemeClr val="tx1"/>
          </a:solidFill>
          <a:latin typeface="+mn-lt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 b="1">
          <a:solidFill>
            <a:schemeClr val="tx1"/>
          </a:solidFill>
          <a:latin typeface="+mn-lt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 b="1">
          <a:solidFill>
            <a:schemeClr val="tx1"/>
          </a:solidFill>
          <a:latin typeface="+mn-lt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B72CCE75-5531-47F8-8830-C071D963EAE7}" type="datetime1">
              <a:rPr lang="zh-CN" altLang="en-US" smtClean="0"/>
              <a:t>2022/11/17</a:t>
            </a:fld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447EB21-0172-454E-936D-8F137637BB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527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方正姚体" pitchFamily="2" charset="-122"/>
          <a:ea typeface="方正姚体" pitchFamily="2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600" b="1">
          <a:solidFill>
            <a:schemeClr val="tx1"/>
          </a:solidFill>
          <a:latin typeface="幼圆" pitchFamily="49" charset="-122"/>
          <a:ea typeface="幼圆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仿宋_GB2312" pitchFamily="49" charset="-122"/>
          <a:ea typeface="仿宋_GB2312" pitchFamily="49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仿宋_GB2312" pitchFamily="49" charset="-122"/>
          <a:ea typeface="仿宋_GB2312" pitchFamily="49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仿宋_GB2312" pitchFamily="49" charset="-122"/>
          <a:ea typeface="仿宋_GB2312" pitchFamily="49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仿宋_GB2312" pitchFamily="49" charset="-122"/>
          <a:ea typeface="仿宋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4363" y="441325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sz="7200">
                <a:solidFill>
                  <a:srgbClr val="FF0000"/>
                </a:solidFill>
                <a:ea typeface="隶书" pitchFamily="49" charset="-122"/>
              </a:rPr>
              <a:t>人工智能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pic>
        <p:nvPicPr>
          <p:cNvPr id="12295" name="Picture 10" descr="http://t0.gstatic.com/images?q=tbn:ANd9GcS2nkzKA1a7Gv7tUBOyjAAinRnB9uH0Ke8gN-dHZZTpb9GsDhq6q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0" t="6602" r="11195" b="27930"/>
          <a:stretch>
            <a:fillRect/>
          </a:stretch>
        </p:blipFill>
        <p:spPr bwMode="auto">
          <a:xfrm>
            <a:off x="7689850" y="33338"/>
            <a:ext cx="1436688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12" descr="http://t0.gstatic.com/images?q=tbn:ANd9GcRRQAKLygWTUPr319LaczMNk7p0HnnI9ny4pmRYbLfehk96IrP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34925"/>
            <a:ext cx="1457325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807804" y="4725144"/>
            <a:ext cx="3619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罗平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luop@ict.ac.cn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pic>
        <p:nvPicPr>
          <p:cNvPr id="514050" name="Picture 2" descr="http://www.ict.cas.cn/images/cnplogo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71800" y="3573016"/>
            <a:ext cx="3438525" cy="571501"/>
          </a:xfrm>
          <a:prstGeom prst="rect">
            <a:avLst/>
          </a:prstGeom>
          <a:noFill/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73193"/>
            <a:ext cx="6400800" cy="1752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F1D79A-86E8-4E4A-8381-2362C362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7EB1E-B14E-4037-B7FF-865737F0828D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362321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模糊计算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2400" dirty="0">
                <a:latin typeface="+mj-lt"/>
              </a:rPr>
              <a:t>清晰的概念</a:t>
            </a:r>
            <a:r>
              <a:rPr lang="en-US" altLang="zh-CN" sz="2400" dirty="0">
                <a:latin typeface="+mj-lt"/>
              </a:rPr>
              <a:t>: </a:t>
            </a:r>
            <a:r>
              <a:rPr lang="zh-CN" altLang="en-US" sz="2200" dirty="0">
                <a:latin typeface="+mj-lt"/>
              </a:rPr>
              <a:t>对象是否属于这个概念是明确的。</a:t>
            </a:r>
            <a:endParaRPr lang="en-US" altLang="zh-CN" sz="2200" dirty="0">
              <a:latin typeface="+mj-lt"/>
            </a:endParaRPr>
          </a:p>
          <a:p>
            <a:pPr lvl="1">
              <a:spcBef>
                <a:spcPts val="1200"/>
              </a:spcBef>
            </a:pPr>
            <a:r>
              <a:rPr lang="zh-CN" altLang="en-US" sz="2000" dirty="0">
                <a:solidFill>
                  <a:srgbClr val="00B050"/>
                </a:solidFill>
                <a:latin typeface="+mj-lt"/>
              </a:rPr>
              <a:t>例如；人、自然数、正方形。</a:t>
            </a:r>
          </a:p>
          <a:p>
            <a:pPr>
              <a:spcBef>
                <a:spcPts val="1200"/>
              </a:spcBef>
            </a:pPr>
            <a:r>
              <a:rPr lang="zh-CN" altLang="en-US" sz="2400" dirty="0">
                <a:solidFill>
                  <a:srgbClr val="3333FF"/>
                </a:solidFill>
                <a:latin typeface="+mj-lt"/>
              </a:rPr>
              <a:t>模糊性的概念：对象从属的界限是模糊的，随判断人的思维而定</a:t>
            </a:r>
            <a:endParaRPr lang="en-US" altLang="zh-CN" sz="2400" dirty="0">
              <a:solidFill>
                <a:srgbClr val="3333FF"/>
              </a:solidFill>
              <a:latin typeface="+mj-lt"/>
            </a:endParaRPr>
          </a:p>
          <a:p>
            <a:pPr lvl="1">
              <a:spcBef>
                <a:spcPts val="1200"/>
              </a:spcBef>
            </a:pPr>
            <a:r>
              <a:rPr lang="zh-CN" altLang="en-US" sz="2000" dirty="0">
                <a:latin typeface="+mj-lt"/>
              </a:rPr>
              <a:t>“最大的”与“较大的”都是有区别的两个概念。但是它们的</a:t>
            </a:r>
            <a:r>
              <a:rPr lang="zh-CN" altLang="en-US" sz="2000" dirty="0">
                <a:solidFill>
                  <a:srgbClr val="FF0000"/>
                </a:solidFill>
                <a:latin typeface="+mj-lt"/>
              </a:rPr>
              <a:t>区别都是逐渐的，而不是突变的</a:t>
            </a:r>
            <a:r>
              <a:rPr lang="zh-CN" altLang="en-US" sz="2000" dirty="0">
                <a:latin typeface="+mj-lt"/>
              </a:rPr>
              <a:t>，两者之间并不存在明确的界限</a:t>
            </a:r>
          </a:p>
          <a:p>
            <a:pPr lvl="1">
              <a:spcBef>
                <a:spcPts val="1200"/>
              </a:spcBef>
            </a:pPr>
            <a:r>
              <a:rPr lang="zh-CN" altLang="en-US" sz="2200" dirty="0">
                <a:latin typeface="+mj-lt"/>
              </a:rPr>
              <a:t>一个人很高或很胖，但是究竟多少厘米才算高，多少千克才算胖呢？高和胖都很模糊。</a:t>
            </a:r>
          </a:p>
          <a:p>
            <a:pPr lvl="1">
              <a:spcBef>
                <a:spcPts val="1200"/>
              </a:spcBef>
            </a:pPr>
            <a:r>
              <a:rPr lang="zh-CN" altLang="en-US" sz="2200" dirty="0">
                <a:latin typeface="+mj-lt"/>
              </a:rPr>
              <a:t>饭什么时候才算熟了？衣服什么样才能算洗干净？</a:t>
            </a:r>
          </a:p>
          <a:p>
            <a:pPr lvl="1">
              <a:spcBef>
                <a:spcPts val="1200"/>
              </a:spcBef>
            </a:pPr>
            <a:r>
              <a:rPr lang="zh-CN" altLang="en-US" sz="2200" dirty="0">
                <a:latin typeface="+mj-lt"/>
              </a:rPr>
              <a:t>例如：</a:t>
            </a:r>
            <a:r>
              <a:rPr lang="zh-CN" altLang="en-US" sz="2200" dirty="0">
                <a:solidFill>
                  <a:srgbClr val="006600"/>
                </a:solidFill>
                <a:latin typeface="+mj-lt"/>
              </a:rPr>
              <a:t>美不美？早不早？便宜不便宜？</a:t>
            </a:r>
            <a:endParaRPr lang="zh-CN" altLang="en-US" sz="2200" dirty="0">
              <a:latin typeface="+mj-lt"/>
            </a:endParaRPr>
          </a:p>
          <a:p>
            <a:pPr>
              <a:spcBef>
                <a:spcPts val="2400"/>
              </a:spcBef>
            </a:pPr>
            <a:r>
              <a:rPr lang="zh-CN" altLang="en-US" sz="2400" dirty="0">
                <a:latin typeface="+mj-lt"/>
              </a:rPr>
              <a:t>在客观世界中，上述的模糊概念要比清晰概念多得多。</a:t>
            </a:r>
          </a:p>
          <a:p>
            <a:pPr lvl="1"/>
            <a:endParaRPr lang="en-US" altLang="zh-CN" b="0" dirty="0">
              <a:latin typeface="+mj-ea"/>
              <a:ea typeface="+mj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0780787-CE74-4C80-A620-9D5A6D58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148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模糊计算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>
                <a:latin typeface="+mj-lt"/>
              </a:rPr>
              <a:t>“模糊不是罪过”：   </a:t>
            </a:r>
            <a:r>
              <a:rPr lang="zh-CN" altLang="en-US" sz="2400" dirty="0">
                <a:solidFill>
                  <a:srgbClr val="006600"/>
                </a:solidFill>
                <a:latin typeface="+mj-lt"/>
              </a:rPr>
              <a:t>模糊 </a:t>
            </a:r>
            <a:r>
              <a:rPr lang="zh-CN" altLang="en-US" sz="2400" dirty="0">
                <a:solidFill>
                  <a:srgbClr val="FF0000"/>
                </a:solidFill>
                <a:latin typeface="+mj-lt"/>
                <a:cs typeface="Arial" charset="0"/>
              </a:rPr>
              <a:t>≠</a:t>
            </a:r>
            <a:r>
              <a:rPr lang="zh-CN" altLang="en-US" sz="2400" dirty="0">
                <a:solidFill>
                  <a:srgbClr val="006600"/>
                </a:solidFill>
                <a:latin typeface="+mj-lt"/>
                <a:cs typeface="Arial" charset="0"/>
              </a:rPr>
              <a:t> </a:t>
            </a:r>
            <a:r>
              <a:rPr lang="zh-CN" altLang="en-US" sz="2400" dirty="0">
                <a:solidFill>
                  <a:srgbClr val="006600"/>
                </a:solidFill>
                <a:latin typeface="+mj-lt"/>
              </a:rPr>
              <a:t>”糊涂”</a:t>
            </a:r>
            <a:r>
              <a:rPr lang="en-US" altLang="zh-CN" sz="2400" dirty="0">
                <a:solidFill>
                  <a:srgbClr val="006600"/>
                </a:solidFill>
                <a:latin typeface="+mj-lt"/>
              </a:rPr>
              <a:t>, 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cs typeface="Arial" charset="0"/>
              </a:rPr>
              <a:t>≠</a:t>
            </a:r>
            <a:r>
              <a:rPr lang="en-US" altLang="zh-CN" sz="2400" dirty="0">
                <a:solidFill>
                  <a:srgbClr val="006600"/>
                </a:solidFill>
                <a:latin typeface="+mj-lt"/>
                <a:cs typeface="Arial" charset="0"/>
              </a:rPr>
              <a:t> </a:t>
            </a:r>
            <a:r>
              <a:rPr lang="en-US" altLang="zh-CN" sz="2400" dirty="0">
                <a:solidFill>
                  <a:srgbClr val="006600"/>
                </a:solidFill>
                <a:latin typeface="+mj-lt"/>
              </a:rPr>
              <a:t>“</a:t>
            </a:r>
            <a:r>
              <a:rPr lang="zh-CN" altLang="en-US" sz="2400" dirty="0">
                <a:solidFill>
                  <a:srgbClr val="006600"/>
                </a:solidFill>
                <a:latin typeface="+mj-lt"/>
              </a:rPr>
              <a:t>朦胧”</a:t>
            </a:r>
            <a:r>
              <a:rPr lang="en-US" altLang="zh-CN" sz="2400" dirty="0">
                <a:solidFill>
                  <a:srgbClr val="006600"/>
                </a:solidFill>
                <a:latin typeface="+mj-lt"/>
              </a:rPr>
              <a:t>, 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cs typeface="Arial" charset="0"/>
              </a:rPr>
              <a:t>≠</a:t>
            </a:r>
            <a:r>
              <a:rPr lang="en-US" altLang="zh-CN" sz="2400" dirty="0">
                <a:solidFill>
                  <a:srgbClr val="006600"/>
                </a:solidFill>
                <a:latin typeface="+mj-lt"/>
              </a:rPr>
              <a:t> ”</a:t>
            </a:r>
            <a:r>
              <a:rPr lang="zh-CN" altLang="en-US" sz="2400" dirty="0">
                <a:solidFill>
                  <a:srgbClr val="006600"/>
                </a:solidFill>
                <a:latin typeface="+mj-lt"/>
              </a:rPr>
              <a:t>傻冒”</a:t>
            </a:r>
            <a:r>
              <a:rPr lang="en-US" altLang="zh-CN" sz="2400" dirty="0">
                <a:solidFill>
                  <a:srgbClr val="006600"/>
                </a:solidFill>
                <a:latin typeface="+mj-lt"/>
              </a:rPr>
              <a:t>, 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cs typeface="Arial" charset="0"/>
              </a:rPr>
              <a:t>≠</a:t>
            </a:r>
            <a:r>
              <a:rPr lang="en-US" altLang="zh-CN" sz="2400" dirty="0">
                <a:solidFill>
                  <a:srgbClr val="006600"/>
                </a:solidFill>
                <a:latin typeface="+mj-lt"/>
              </a:rPr>
              <a:t> “</a:t>
            </a:r>
            <a:r>
              <a:rPr lang="zh-CN" altLang="en-US" sz="2400" dirty="0">
                <a:solidFill>
                  <a:srgbClr val="006600"/>
                </a:solidFill>
                <a:latin typeface="+mj-lt"/>
              </a:rPr>
              <a:t>痴呆”</a:t>
            </a:r>
            <a:endParaRPr lang="zh-CN" altLang="en-US" sz="800" dirty="0">
              <a:solidFill>
                <a:srgbClr val="006600"/>
              </a:solidFill>
              <a:latin typeface="+mj-lt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>
                <a:solidFill>
                  <a:srgbClr val="3333FF"/>
                </a:solidFill>
                <a:latin typeface="+mj-lt"/>
              </a:rPr>
              <a:t>取得精确数据不可能或很困难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000" dirty="0">
                <a:latin typeface="+mj-lt"/>
              </a:rPr>
              <a:t>例如：１粒种子肯定不能叫一堆，２粒也不是，３粒也不是</a:t>
            </a:r>
            <a:r>
              <a:rPr lang="en-US" altLang="zh-CN" sz="2000" dirty="0">
                <a:latin typeface="+mj-lt"/>
              </a:rPr>
              <a:t>……</a:t>
            </a:r>
            <a:r>
              <a:rPr lang="zh-CN" altLang="en-US" sz="2000" dirty="0">
                <a:latin typeface="+mj-lt"/>
              </a:rPr>
              <a:t>那么多少粒种子叫一堆呢？适当的界限在哪里呢？我们能否说１２３４５６粒种子不叫一堆，而１２３４５７粒种子叫一堆呢？</a:t>
            </a:r>
            <a:endParaRPr lang="zh-CN" altLang="en-US" sz="800" dirty="0">
              <a:latin typeface="+mj-lt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>
                <a:solidFill>
                  <a:srgbClr val="3333FF"/>
                </a:solidFill>
                <a:latin typeface="+mj-lt"/>
              </a:rPr>
              <a:t>没有必要获取精确数据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000" dirty="0">
                <a:latin typeface="+mj-lt"/>
              </a:rPr>
              <a:t>例如：要从一片西瓜地里找出一个最大的西瓜，那是件很麻烦的事。必须 把西瓜地里所有的西瓜都找出来，再比较一下，才知道哪个西瓜最大。西瓜越多，工作量就越大。如果按通常说的，到西瓜地里去找一个较大的西瓜，这时精确的问题就转化成模糊的问题，反而容易多了。由此可见，适当的模糊能使问题得到简化。</a:t>
            </a:r>
          </a:p>
          <a:p>
            <a:pPr lvl="1"/>
            <a:endParaRPr lang="en-US" altLang="zh-CN" b="0" dirty="0">
              <a:latin typeface="+mj-ea"/>
              <a:ea typeface="+mj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E5CE1-029C-439D-81E4-E9AB1FCA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19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模糊计算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13287"/>
          </a:xfrm>
        </p:spPr>
        <p:txBody>
          <a:bodyPr/>
          <a:lstStyle/>
          <a:p>
            <a:r>
              <a:rPr lang="zh-CN" altLang="en-US" sz="2400" dirty="0">
                <a:solidFill>
                  <a:srgbClr val="0000CC"/>
                </a:solidFill>
                <a:latin typeface="+mj-ea"/>
                <a:ea typeface="+mj-ea"/>
              </a:rPr>
              <a:t>美国加州大学扎德</a:t>
            </a:r>
            <a:r>
              <a:rPr lang="en-US" altLang="zh-CN" sz="2400" dirty="0">
                <a:solidFill>
                  <a:srgbClr val="0000CC"/>
                </a:solidFill>
                <a:latin typeface="+mj-ea"/>
                <a:ea typeface="+mj-ea"/>
              </a:rPr>
              <a:t>(Zadeh,1921-2017)</a:t>
            </a:r>
            <a:r>
              <a:rPr lang="zh-CN" altLang="en-US" sz="2400" dirty="0">
                <a:solidFill>
                  <a:srgbClr val="0000CC"/>
                </a:solidFill>
                <a:latin typeface="+mj-ea"/>
                <a:ea typeface="+mj-ea"/>
              </a:rPr>
              <a:t>教授于</a:t>
            </a:r>
            <a:r>
              <a:rPr lang="en-US" altLang="zh-CN" sz="2400" dirty="0">
                <a:solidFill>
                  <a:srgbClr val="0000CC"/>
                </a:solidFill>
                <a:latin typeface="+mj-ea"/>
                <a:ea typeface="+mj-ea"/>
              </a:rPr>
              <a:t>1965</a:t>
            </a:r>
            <a:r>
              <a:rPr lang="zh-CN" altLang="en-US" sz="2400" dirty="0">
                <a:solidFill>
                  <a:srgbClr val="0000CC"/>
                </a:solidFill>
                <a:latin typeface="+mj-ea"/>
                <a:ea typeface="+mj-ea"/>
              </a:rPr>
              <a:t>年提出的模糊集合与模糊逻辑理论是模糊计算的数学基础。</a:t>
            </a:r>
            <a:endParaRPr lang="en-US" altLang="zh-CN" sz="2400" dirty="0">
              <a:solidFill>
                <a:srgbClr val="0000CC"/>
              </a:solidFill>
              <a:latin typeface="+mj-ea"/>
              <a:ea typeface="+mj-ea"/>
            </a:endParaRPr>
          </a:p>
          <a:p>
            <a:endParaRPr lang="zh-CN" altLang="en-US" sz="2400" dirty="0">
              <a:solidFill>
                <a:srgbClr val="0000CC"/>
              </a:solidFill>
              <a:latin typeface="+mj-ea"/>
              <a:ea typeface="+mj-ea"/>
            </a:endParaRPr>
          </a:p>
          <a:p>
            <a:pPr lvl="1">
              <a:buFont typeface="Wingdings" pitchFamily="2" charset="2"/>
              <a:buChar char="ü"/>
            </a:pPr>
            <a:r>
              <a:rPr kumimoji="1" lang="zh-CN" altLang="en-US" sz="2400" dirty="0">
                <a:latin typeface="+mj-ea"/>
                <a:ea typeface="+mj-ea"/>
              </a:rPr>
              <a:t>发表了文章</a:t>
            </a:r>
            <a:r>
              <a:rPr kumimoji="1" lang="en-US" altLang="zh-CN" sz="2400" dirty="0">
                <a:latin typeface="+mj-ea"/>
                <a:ea typeface="+mj-ea"/>
              </a:rPr>
              <a:t>《</a:t>
            </a:r>
            <a:r>
              <a:rPr kumimoji="1" lang="zh-CN" altLang="en-US" sz="2400" dirty="0">
                <a:latin typeface="+mj-ea"/>
                <a:ea typeface="+mj-ea"/>
              </a:rPr>
              <a:t>模糊集</a:t>
            </a:r>
            <a:r>
              <a:rPr kumimoji="1" lang="en-US" altLang="zh-CN" sz="2400" dirty="0">
                <a:latin typeface="+mj-ea"/>
                <a:ea typeface="+mj-ea"/>
              </a:rPr>
              <a:t>》(</a:t>
            </a:r>
            <a:r>
              <a:rPr kumimoji="1" lang="en-US" altLang="zh-CN" sz="2400" dirty="0">
                <a:ea typeface="+mj-ea"/>
              </a:rPr>
              <a:t>Fuzzy sets,</a:t>
            </a:r>
            <a:r>
              <a:rPr kumimoji="1" lang="zh-CN" altLang="en-US" sz="2400" dirty="0">
                <a:ea typeface="+mj-ea"/>
              </a:rPr>
              <a:t> </a:t>
            </a:r>
            <a:r>
              <a:rPr kumimoji="1" lang="en-US" altLang="zh-CN" sz="2400" dirty="0">
                <a:ea typeface="+mj-ea"/>
              </a:rPr>
              <a:t>Information and Control,</a:t>
            </a:r>
            <a:r>
              <a:rPr kumimoji="1" lang="en-US" altLang="zh-CN" sz="2400" dirty="0">
                <a:latin typeface="+mj-ea"/>
                <a:ea typeface="+mj-ea"/>
              </a:rPr>
              <a:t> 8, 338-353)</a:t>
            </a:r>
          </a:p>
          <a:p>
            <a:pPr lvl="1"/>
            <a:endParaRPr lang="en-US" altLang="zh-CN" sz="2400" dirty="0">
              <a:solidFill>
                <a:srgbClr val="0000CC"/>
              </a:solidFill>
              <a:latin typeface="+mj-ea"/>
              <a:ea typeface="+mj-ea"/>
            </a:endParaRPr>
          </a:p>
          <a:p>
            <a:pPr lvl="1">
              <a:buFont typeface="Wingdings" pitchFamily="2" charset="2"/>
              <a:buChar char="ü"/>
            </a:pPr>
            <a:r>
              <a:rPr lang="zh-CN" altLang="en-US" sz="2400" dirty="0">
                <a:solidFill>
                  <a:srgbClr val="0000CC"/>
                </a:solidFill>
                <a:latin typeface="+mj-ea"/>
                <a:ea typeface="+mj-ea"/>
              </a:rPr>
              <a:t>主要用来处理现实世界中因模糊而引起的不确定性。</a:t>
            </a:r>
            <a:endParaRPr lang="en-US" altLang="zh-CN" sz="2400" dirty="0">
              <a:solidFill>
                <a:srgbClr val="0000CC"/>
              </a:solidFill>
              <a:latin typeface="+mj-ea"/>
              <a:ea typeface="+mj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FF06D4-6AB3-4423-BC5B-3AF371F1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367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模糊计算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84926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rgbClr val="0000CC"/>
                </a:solidFill>
                <a:latin typeface="+mj-lt"/>
              </a:rPr>
              <a:t>要使计算机能够模仿人脑，对复杂系统进行识别和判断，出路何在？</a:t>
            </a:r>
            <a:endParaRPr lang="en-US" altLang="zh-CN" sz="2400" dirty="0">
              <a:solidFill>
                <a:srgbClr val="0000CC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+mj-lt"/>
              </a:rPr>
              <a:t>1965</a:t>
            </a:r>
            <a:r>
              <a:rPr lang="zh-CN" altLang="en-US" sz="2400" dirty="0">
                <a:latin typeface="+mj-lt"/>
              </a:rPr>
              <a:t>年扎德</a:t>
            </a:r>
            <a:r>
              <a:rPr lang="en-US" altLang="zh-CN" sz="2400" dirty="0">
                <a:latin typeface="+mj-lt"/>
              </a:rPr>
              <a:t>(Zadeh)</a:t>
            </a:r>
            <a:r>
              <a:rPr lang="zh-CN" altLang="en-US" sz="2400" dirty="0">
                <a:latin typeface="+mj-lt"/>
              </a:rPr>
              <a:t>教授开创了对</a:t>
            </a:r>
            <a:r>
              <a:rPr lang="zh-CN" altLang="en-US" sz="2400" dirty="0">
                <a:solidFill>
                  <a:srgbClr val="0000CC"/>
                </a:solidFill>
                <a:latin typeface="+mj-lt"/>
              </a:rPr>
              <a:t>“模糊数学”</a:t>
            </a:r>
            <a:r>
              <a:rPr lang="zh-CN" altLang="en-US" sz="2400" dirty="0">
                <a:latin typeface="+mj-lt"/>
              </a:rPr>
              <a:t>的研究。他认为</a:t>
            </a:r>
            <a:r>
              <a:rPr lang="zh-CN" altLang="en-US" sz="2200" dirty="0">
                <a:latin typeface="+mj-lt"/>
              </a:rPr>
              <a:t>数学是可以模糊的，主张从精度方面“后退”一步。他提出用</a:t>
            </a:r>
            <a:r>
              <a:rPr lang="zh-CN" altLang="en-US" sz="2200" dirty="0">
                <a:solidFill>
                  <a:srgbClr val="FF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隶属函数使模糊概念数学化</a:t>
            </a:r>
            <a:r>
              <a:rPr lang="zh-CN" altLang="en-US" sz="2200" dirty="0">
                <a:latin typeface="+mj-lt"/>
              </a:rPr>
              <a:t>。</a:t>
            </a:r>
          </a:p>
          <a:p>
            <a:pPr lvl="1">
              <a:lnSpc>
                <a:spcPct val="90000"/>
              </a:lnSpc>
            </a:pPr>
            <a:r>
              <a:rPr lang="zh-CN" altLang="en-US" sz="2200" dirty="0">
                <a:latin typeface="+mj-lt"/>
              </a:rPr>
              <a:t>例如“年轻”和“年老”这两个模糊概念。扎德教授本人根据统计资料，拟合了这两个概念的隶属函数图象。图中横坐标表示年龄，纵坐标表示隶属程度。</a:t>
            </a:r>
          </a:p>
          <a:p>
            <a:pPr lvl="1">
              <a:spcBef>
                <a:spcPts val="600"/>
              </a:spcBef>
            </a:pPr>
            <a:endParaRPr lang="en-US" altLang="zh-CN" sz="2000" b="0" dirty="0">
              <a:latin typeface="+mj-ea"/>
              <a:ea typeface="+mj-ea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1E6E2A16-0ACD-4874-B1A7-31C79BA79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437112"/>
            <a:ext cx="4910138" cy="206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3B8C414-E250-415A-8163-3B0990889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132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模糊集的定义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4744"/>
                <a:ext cx="8229600" cy="5006181"/>
              </a:xfrm>
            </p:spPr>
            <p:txBody>
              <a:bodyPr/>
              <a:lstStyle/>
              <a:p>
                <a:pPr algn="just">
                  <a:lnSpc>
                    <a:spcPct val="115000"/>
                  </a:lnSpc>
                  <a:spcBef>
                    <a:spcPct val="25000"/>
                  </a:spcBef>
                </a:pPr>
                <a:r>
                  <a:rPr kumimoji="1" lang="zh-CN" altLang="en-US" sz="2000" dirty="0">
                    <a:solidFill>
                      <a:srgbClr val="C000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定义</a:t>
                </a:r>
                <a:r>
                  <a:rPr kumimoji="1" lang="en-US" altLang="zh-CN" sz="2000" dirty="0">
                    <a:solidFill>
                      <a:srgbClr val="C000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 </a:t>
                </a: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设</a:t>
                </a:r>
                <a:r>
                  <a:rPr kumimoji="1" lang="en-US" altLang="zh-CN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U</a:t>
                </a: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是给定论域，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是把任意</a:t>
                </a:r>
                <a:r>
                  <a:rPr kumimoji="1" lang="en-US" altLang="zh-CN" sz="2000" dirty="0" err="1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u∈U</a:t>
                </a: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映射为</a:t>
                </a:r>
                <a:r>
                  <a:rPr kumimoji="1" lang="en-US" altLang="zh-CN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[0, 1]</a:t>
                </a: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上某个实值的函数，即</a:t>
                </a:r>
              </a:p>
              <a:p>
                <a:pPr marL="0" indent="0" algn="just">
                  <a:lnSpc>
                    <a:spcPct val="115000"/>
                  </a:lnSpc>
                  <a:spcBef>
                    <a:spcPct val="25000"/>
                  </a:spcBef>
                  <a:buNone/>
                </a:pP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   ：</a:t>
                </a:r>
                <a:r>
                  <a:rPr kumimoji="1" lang="en-US" altLang="zh-CN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U→[0, 1]</a:t>
                </a:r>
              </a:p>
              <a:p>
                <a:pPr>
                  <a:lnSpc>
                    <a:spcPct val="115000"/>
                  </a:lnSpc>
                  <a:spcBef>
                    <a:spcPct val="25000"/>
                  </a:spcBef>
                </a:pP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则称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为定义在</a:t>
                </a:r>
                <a:r>
                  <a:rPr kumimoji="1" lang="en-US" altLang="zh-CN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U</a:t>
                </a: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上的一个隶属函数，由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（对所有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）</a:t>
                </a:r>
                <a:r>
                  <a:rPr kumimoji="1" lang="zh-CN" altLang="en-US" sz="2000" dirty="0">
                    <a:solidFill>
                      <a:srgbClr val="0000FF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所构成</a:t>
                </a: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的集合</a:t>
                </a:r>
                <a:r>
                  <a:rPr kumimoji="1" lang="en-US" altLang="zh-CN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F</a:t>
                </a: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称为</a:t>
                </a:r>
                <a:r>
                  <a:rPr kumimoji="1" lang="en-US" altLang="zh-CN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U</a:t>
                </a: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上的一个模糊集，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称为</a:t>
                </a:r>
                <a:r>
                  <a:rPr kumimoji="1" lang="en-US" altLang="zh-CN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u</a:t>
                </a: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对</a:t>
                </a:r>
                <a:r>
                  <a:rPr kumimoji="1" lang="en-US" altLang="zh-CN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F</a:t>
                </a:r>
                <a:r>
                  <a:rPr kumimoji="1" lang="zh-CN" altLang="en-US" sz="20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的隶属度。</a:t>
                </a:r>
                <a:endParaRPr kumimoji="1" lang="en-US" altLang="zh-CN" sz="2000" dirty="0">
                  <a:latin typeface="Times New Roman" pitchFamily="18" charset="0"/>
                  <a:ea typeface="幼圆" pitchFamily="49" charset="-122"/>
                  <a:cs typeface="Times New Roman" pitchFamily="18" charset="0"/>
                </a:endParaRPr>
              </a:p>
              <a:p>
                <a:pPr>
                  <a:spcBef>
                    <a:spcPts val="1200"/>
                  </a:spcBef>
                </a:pPr>
                <a:endParaRPr lang="en-US" altLang="zh-CN" sz="2000" b="0" dirty="0">
                  <a:latin typeface="+mj-ea"/>
                  <a:ea typeface="+mj-ea"/>
                </a:endParaRPr>
              </a:p>
              <a:p>
                <a:pPr marL="0" indent="0">
                  <a:spcBef>
                    <a:spcPts val="1200"/>
                  </a:spcBef>
                  <a:buNone/>
                </a:pPr>
                <a:endParaRPr lang="en-US" altLang="zh-CN" sz="2000" b="0" dirty="0">
                  <a:latin typeface="+mj-ea"/>
                  <a:ea typeface="+mj-ea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zh-CN" altLang="en-US" sz="2000" b="0" dirty="0">
                    <a:latin typeface="+mj-ea"/>
                    <a:ea typeface="+mj-ea"/>
                  </a:rPr>
                  <a:t>模糊集</a:t>
                </a:r>
                <a:r>
                  <a:rPr lang="en-US" altLang="zh-CN" sz="2000" b="0" dirty="0">
                    <a:latin typeface="+mj-ea"/>
                    <a:ea typeface="+mj-ea"/>
                  </a:rPr>
                  <a:t>F</a:t>
                </a:r>
                <a:r>
                  <a:rPr lang="zh-CN" altLang="en-US" sz="2000" b="0" dirty="0">
                    <a:latin typeface="+mj-ea"/>
                    <a:ea typeface="+mj-ea"/>
                  </a:rPr>
                  <a:t>完全是由隶属函数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2000" b="0" dirty="0">
                    <a:latin typeface="+mj-ea"/>
                    <a:ea typeface="+mj-ea"/>
                  </a:rPr>
                  <a:t>来刻画的，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2000" b="0" dirty="0">
                    <a:latin typeface="+mj-ea"/>
                    <a:ea typeface="+mj-ea"/>
                  </a:rPr>
                  <a:t>把</a:t>
                </a:r>
                <a:r>
                  <a:rPr lang="en-US" altLang="zh-CN" sz="2000" b="0" dirty="0">
                    <a:latin typeface="+mj-ea"/>
                    <a:ea typeface="+mj-ea"/>
                  </a:rPr>
                  <a:t>U</a:t>
                </a:r>
                <a:r>
                  <a:rPr lang="zh-CN" altLang="en-US" sz="2000" b="0" dirty="0">
                    <a:latin typeface="+mj-ea"/>
                    <a:ea typeface="+mj-ea"/>
                  </a:rPr>
                  <a:t>中的每一个元素</a:t>
                </a:r>
                <a:r>
                  <a:rPr lang="en-US" altLang="zh-CN" sz="2000" b="0" dirty="0">
                    <a:latin typeface="+mj-ea"/>
                    <a:ea typeface="+mj-ea"/>
                  </a:rPr>
                  <a:t>u</a:t>
                </a:r>
                <a:r>
                  <a:rPr lang="zh-CN" altLang="en-US" sz="2000" b="0" dirty="0">
                    <a:latin typeface="+mj-ea"/>
                    <a:ea typeface="+mj-ea"/>
                  </a:rPr>
                  <a:t>都映射为</a:t>
                </a:r>
                <a:r>
                  <a:rPr lang="en-US" altLang="zh-CN" sz="2000" b="0" dirty="0">
                    <a:latin typeface="+mj-ea"/>
                    <a:ea typeface="+mj-ea"/>
                  </a:rPr>
                  <a:t>[0,1]</a:t>
                </a:r>
                <a:r>
                  <a:rPr lang="zh-CN" altLang="en-US" sz="2000" b="0" dirty="0">
                    <a:latin typeface="+mj-ea"/>
                    <a:ea typeface="+mj-ea"/>
                  </a:rPr>
                  <a:t>上的一个值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0" dirty="0">
                    <a:latin typeface="+mj-ea"/>
                    <a:ea typeface="+mj-ea"/>
                  </a:rPr>
                  <a:t> 。</a:t>
                </a:r>
              </a:p>
              <a:p>
                <a:pPr>
                  <a:spcBef>
                    <a:spcPts val="1200"/>
                  </a:spcBef>
                </a:pPr>
                <a:r>
                  <a:rPr lang="zh-CN" altLang="en-US" sz="2000" b="0" dirty="0"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0" dirty="0">
                    <a:latin typeface="+mj-ea"/>
                    <a:ea typeface="+mj-ea"/>
                  </a:rPr>
                  <a:t> 的值表示</a:t>
                </a:r>
                <a:r>
                  <a:rPr lang="en-US" altLang="zh-CN" sz="2000" b="0" dirty="0">
                    <a:latin typeface="+mj-ea"/>
                    <a:ea typeface="+mj-ea"/>
                  </a:rPr>
                  <a:t>u</a:t>
                </a:r>
                <a:r>
                  <a:rPr lang="zh-CN" altLang="en-US" sz="2000" b="0" dirty="0">
                    <a:latin typeface="+mj-ea"/>
                    <a:ea typeface="+mj-ea"/>
                  </a:rPr>
                  <a:t>隶属于</a:t>
                </a:r>
                <a:r>
                  <a:rPr lang="en-US" altLang="zh-CN" sz="2000" b="0" dirty="0">
                    <a:latin typeface="+mj-ea"/>
                    <a:ea typeface="+mj-ea"/>
                  </a:rPr>
                  <a:t>F</a:t>
                </a:r>
                <a:r>
                  <a:rPr lang="zh-CN" altLang="en-US" sz="2000" b="0" dirty="0">
                    <a:latin typeface="+mj-ea"/>
                    <a:ea typeface="+mj-ea"/>
                  </a:rPr>
                  <a:t>的程度，其值越大，表示</a:t>
                </a:r>
                <a:r>
                  <a:rPr lang="en-US" altLang="zh-CN" sz="2000" b="0" dirty="0">
                    <a:latin typeface="+mj-ea"/>
                    <a:ea typeface="+mj-ea"/>
                  </a:rPr>
                  <a:t>u</a:t>
                </a:r>
                <a:r>
                  <a:rPr lang="zh-CN" altLang="en-US" sz="2000" b="0" dirty="0">
                    <a:latin typeface="+mj-ea"/>
                    <a:ea typeface="+mj-ea"/>
                  </a:rPr>
                  <a:t>隶属于</a:t>
                </a:r>
                <a:r>
                  <a:rPr lang="en-US" altLang="zh-CN" sz="2000" b="0" dirty="0">
                    <a:latin typeface="+mj-ea"/>
                    <a:ea typeface="+mj-ea"/>
                  </a:rPr>
                  <a:t>F</a:t>
                </a:r>
                <a:r>
                  <a:rPr lang="zh-CN" altLang="en-US" sz="2000" b="0" dirty="0">
                    <a:latin typeface="+mj-ea"/>
                    <a:ea typeface="+mj-ea"/>
                  </a:rPr>
                  <a:t>的程度越高。当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b="0" dirty="0">
                    <a:latin typeface="+mj-ea"/>
                    <a:ea typeface="+mj-ea"/>
                  </a:rPr>
                  <a:t>仅取</a:t>
                </a:r>
                <a:r>
                  <a:rPr lang="en-US" altLang="zh-CN" sz="2000" b="0" dirty="0">
                    <a:latin typeface="+mj-ea"/>
                    <a:ea typeface="+mj-ea"/>
                  </a:rPr>
                  <a:t>0</a:t>
                </a:r>
                <a:r>
                  <a:rPr lang="zh-CN" altLang="en-US" sz="2000" b="0" dirty="0">
                    <a:latin typeface="+mj-ea"/>
                    <a:ea typeface="+mj-ea"/>
                  </a:rPr>
                  <a:t>和</a:t>
                </a:r>
                <a:r>
                  <a:rPr lang="en-US" altLang="zh-CN" sz="2000" b="0" dirty="0">
                    <a:latin typeface="+mj-ea"/>
                    <a:ea typeface="+mj-ea"/>
                  </a:rPr>
                  <a:t>1</a:t>
                </a:r>
                <a:r>
                  <a:rPr lang="zh-CN" altLang="en-US" sz="2000" b="0" dirty="0">
                    <a:latin typeface="+mj-ea"/>
                    <a:ea typeface="+mj-ea"/>
                  </a:rPr>
                  <a:t>时，模糊集</a:t>
                </a:r>
                <a:r>
                  <a:rPr lang="en-US" altLang="zh-CN" sz="2000" b="0" dirty="0">
                    <a:latin typeface="+mj-ea"/>
                    <a:ea typeface="+mj-ea"/>
                  </a:rPr>
                  <a:t>F</a:t>
                </a:r>
                <a:r>
                  <a:rPr lang="zh-CN" altLang="en-US" sz="2000" b="0" dirty="0">
                    <a:latin typeface="+mj-ea"/>
                    <a:ea typeface="+mj-ea"/>
                  </a:rPr>
                  <a:t>便退化为一个普通集合。</a:t>
                </a:r>
              </a:p>
              <a:p>
                <a:pPr>
                  <a:spcBef>
                    <a:spcPts val="1200"/>
                  </a:spcBef>
                </a:pPr>
                <a:endParaRPr lang="en-US" altLang="zh-CN" sz="2400" b="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4744"/>
                <a:ext cx="8229600" cy="5006181"/>
              </a:xfrm>
              <a:blipFill>
                <a:blip r:embed="rId3"/>
                <a:stretch>
                  <a:fillRect t="-731" r="-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237D7D-2539-41A5-9ACB-8B52F68C2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860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模糊集的定义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7"/>
          </a:xfrm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kumimoji="1" lang="en-US" altLang="zh-CN" sz="2800" dirty="0">
                <a:solidFill>
                  <a:srgbClr val="00B05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</a:t>
            </a:r>
            <a:r>
              <a:rPr kumimoji="1" lang="zh-CN" altLang="en-US" sz="2800" dirty="0">
                <a:solidFill>
                  <a:srgbClr val="00B05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例</a:t>
            </a:r>
            <a:r>
              <a:rPr kumimoji="1" lang="en-US" altLang="zh-CN" sz="2800" dirty="0">
                <a:solidFill>
                  <a:srgbClr val="00B05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5.15 </a:t>
            </a:r>
            <a:r>
              <a:rPr kumimoji="1" lang="zh-CN" altLang="en-US" sz="2800" dirty="0">
                <a:solidFill>
                  <a:srgbClr val="00B05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设论域</a:t>
            </a:r>
            <a:r>
              <a:rPr kumimoji="1" lang="en-US" altLang="zh-CN" sz="2800" dirty="0">
                <a:solidFill>
                  <a:srgbClr val="00B05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U={20, 30, 40, 50, 60}</a:t>
            </a:r>
            <a:r>
              <a:rPr kumimoji="1" lang="zh-CN" altLang="en-US" sz="2800" dirty="0">
                <a:solidFill>
                  <a:srgbClr val="00B05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给出的是年龄，请确定一个刻画模糊概念“年轻”的模糊集</a:t>
            </a:r>
            <a:r>
              <a:rPr kumimoji="1" lang="en-US" altLang="zh-CN" sz="2800" dirty="0">
                <a:solidFill>
                  <a:srgbClr val="00B05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F</a:t>
            </a:r>
            <a:r>
              <a:rPr kumimoji="1" lang="zh-CN" altLang="en-US" sz="2800" dirty="0">
                <a:solidFill>
                  <a:srgbClr val="00B05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。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8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    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解：由于模糊集是用其隶属函数来刻画的，因此需要先求出描述模糊概念“青年”的隶属函数。假设对论域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U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中的元素，其隶属函数值分别为：</a:t>
            </a:r>
          </a:p>
          <a:p>
            <a:pPr marL="0" indent="0" algn="just">
              <a:spcBef>
                <a:spcPct val="50000"/>
              </a:spcBef>
              <a:buNone/>
            </a:pPr>
            <a:endParaRPr kumimoji="1" lang="zh-CN" altLang="en-US" sz="2800" dirty="0">
              <a:latin typeface="Times New Roman" pitchFamily="18" charset="0"/>
              <a:ea typeface="幼圆" pitchFamily="49" charset="-122"/>
              <a:cs typeface="Times New Roman" pitchFamily="18" charset="0"/>
            </a:endParaRPr>
          </a:p>
          <a:p>
            <a:pPr algn="just">
              <a:spcBef>
                <a:spcPct val="50000"/>
              </a:spcBef>
            </a:pPr>
            <a:endParaRPr kumimoji="1" lang="zh-CN" altLang="en-US" sz="2800" dirty="0">
              <a:latin typeface="Times New Roman" pitchFamily="18" charset="0"/>
              <a:ea typeface="幼圆" pitchFamily="49" charset="-122"/>
              <a:cs typeface="Times New Roman" pitchFamily="18" charset="0"/>
            </a:endParaRPr>
          </a:p>
          <a:p>
            <a:pPr marL="0" indent="0" algn="just">
              <a:spcBef>
                <a:spcPct val="50000"/>
              </a:spcBef>
              <a:buNone/>
            </a:pP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   则可得到刻画模糊概念“年轻”的模糊集</a:t>
            </a:r>
          </a:p>
          <a:p>
            <a:pPr marL="0" indent="0">
              <a:spcBef>
                <a:spcPct val="50000"/>
              </a:spcBef>
              <a:buNone/>
            </a:pP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              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F={ 1, 0.8, 0.4, 0.1, 0} </a:t>
            </a:r>
          </a:p>
          <a:p>
            <a:pPr marL="0" indent="0">
              <a:spcBef>
                <a:spcPct val="50000"/>
              </a:spcBef>
              <a:buNone/>
            </a:pP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567A7C89-FCE6-41F6-8DAF-BDD5E5F2C535}"/>
                  </a:ext>
                </a:extLst>
              </p:cNvPr>
              <p:cNvSpPr txBox="1"/>
              <p:nvPr/>
            </p:nvSpPr>
            <p:spPr bwMode="auto">
              <a:xfrm>
                <a:off x="1421606" y="4077072"/>
                <a:ext cx="6300788" cy="7239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(20)=1,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(30)=0.8,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(40)=0.4,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(50)=0.1,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(60)=0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567A7C89-FCE6-41F6-8DAF-BDD5E5F2C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1606" y="4077072"/>
                <a:ext cx="6300788" cy="723900"/>
              </a:xfrm>
              <a:prstGeom prst="rect">
                <a:avLst/>
              </a:prstGeom>
              <a:blipFill>
                <a:blip r:embed="rId3"/>
                <a:stretch>
                  <a:fillRect l="-193" b="-26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D2B82FD-CF77-4C56-B0B7-74E17C26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21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rgbClr val="C00000"/>
                </a:solidFill>
              </a:rPr>
              <a:t>随机与模糊：是否与多少</a:t>
            </a:r>
            <a:endParaRPr lang="zh-CN" altLang="en-US" sz="4000" dirty="0">
              <a:solidFill>
                <a:srgbClr val="C000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7"/>
          </a:xfrm>
        </p:spPr>
        <p:txBody>
          <a:bodyPr/>
          <a:lstStyle/>
          <a:p>
            <a:r>
              <a:rPr lang="zh-CN" altLang="en-US" sz="2400" dirty="0">
                <a:latin typeface="+mj-lt"/>
              </a:rPr>
              <a:t>模糊性</a:t>
            </a:r>
            <a:r>
              <a:rPr lang="en-US" altLang="zh-CN" sz="2400" dirty="0">
                <a:latin typeface="+mj-lt"/>
              </a:rPr>
              <a:t>:</a:t>
            </a:r>
          </a:p>
          <a:p>
            <a:pPr marL="0" indent="0">
              <a:buNone/>
            </a:pPr>
            <a:r>
              <a:rPr lang="en-US" altLang="zh-CN" sz="2400" dirty="0">
                <a:latin typeface="+mj-lt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+mj-lt"/>
              </a:rPr>
              <a:t>事件发生的程度，而不是一个事件是否发生</a:t>
            </a:r>
            <a:r>
              <a:rPr lang="en-US" altLang="zh-CN" sz="2400" dirty="0">
                <a:latin typeface="+mj-lt"/>
              </a:rPr>
              <a:t>.</a:t>
            </a:r>
          </a:p>
          <a:p>
            <a:pPr marL="0" indent="0">
              <a:buNone/>
            </a:pPr>
            <a:endParaRPr lang="en-US" altLang="zh-CN" sz="2400" dirty="0">
              <a:latin typeface="+mj-lt"/>
            </a:endParaRPr>
          </a:p>
          <a:p>
            <a:r>
              <a:rPr lang="zh-CN" altLang="en-US" sz="2400" dirty="0">
                <a:latin typeface="+mj-lt"/>
              </a:rPr>
              <a:t>随机性</a:t>
            </a:r>
            <a:r>
              <a:rPr lang="en-US" altLang="zh-CN" sz="2400" dirty="0">
                <a:latin typeface="+mj-lt"/>
              </a:rPr>
              <a:t>:</a:t>
            </a:r>
          </a:p>
          <a:p>
            <a:pPr marL="0" indent="0">
              <a:buNone/>
            </a:pPr>
            <a:r>
              <a:rPr lang="en-US" altLang="zh-CN" sz="2400" dirty="0">
                <a:latin typeface="+mj-lt"/>
              </a:rPr>
              <a:t>    </a:t>
            </a:r>
            <a:r>
              <a:rPr lang="zh-CN" altLang="en-US" sz="2400" dirty="0">
                <a:latin typeface="+mj-lt"/>
              </a:rPr>
              <a:t>描述事件发生的不确定性</a:t>
            </a:r>
            <a:r>
              <a:rPr lang="en-US" altLang="zh-CN" sz="2400" dirty="0">
                <a:latin typeface="+mj-lt"/>
              </a:rPr>
              <a:t>,</a:t>
            </a:r>
            <a:r>
              <a:rPr lang="zh-CN" altLang="en-US" sz="2400" dirty="0">
                <a:latin typeface="+mj-lt"/>
              </a:rPr>
              <a:t>即</a:t>
            </a:r>
            <a:r>
              <a:rPr lang="en-US" altLang="zh-CN" sz="2400" dirty="0">
                <a:latin typeface="+mj-lt"/>
              </a:rPr>
              <a:t>,</a:t>
            </a:r>
            <a:r>
              <a:rPr lang="zh-CN" altLang="en-US" sz="2400" dirty="0">
                <a:latin typeface="+mj-lt"/>
              </a:rPr>
              <a:t>一个事件发生与否</a:t>
            </a:r>
            <a:endParaRPr lang="en-US" altLang="zh-CN" sz="2400" b="0" dirty="0">
              <a:latin typeface="+mj-lt"/>
              <a:ea typeface="黑体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C464B1F-7995-4CF8-AA2C-77094BCD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4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模糊集的表示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4744"/>
                <a:ext cx="8229600" cy="4790157"/>
              </a:xfrm>
            </p:spPr>
            <p:txBody>
              <a:bodyPr/>
              <a:lstStyle/>
              <a:p>
                <a:r>
                  <a:rPr lang="zh-CN" altLang="en-US" sz="2400" dirty="0">
                    <a:solidFill>
                      <a:srgbClr val="A50021"/>
                    </a:solidFill>
                    <a:latin typeface="Times New Roman" pitchFamily="18" charset="0"/>
                    <a:cs typeface="Times New Roman" pitchFamily="18" charset="0"/>
                  </a:rPr>
                  <a:t>离散且为有限论域的表示方法</a:t>
                </a:r>
              </a:p>
              <a:p>
                <a:pPr marL="400050" lvl="1" indent="0">
                  <a:buNone/>
                </a:pPr>
                <a:r>
                  <a:rPr lang="zh-CN" altLang="en-US" sz="2000" dirty="0">
                    <a:latin typeface="Times New Roman" pitchFamily="18" charset="0"/>
                    <a:cs typeface="Times New Roman" pitchFamily="18" charset="0"/>
                  </a:rPr>
                  <a:t>    </a:t>
                </a:r>
                <a:r>
                  <a:rPr lang="zh-CN" altLang="en-US" sz="2000" b="0" dirty="0">
                    <a:latin typeface="Times New Roman" pitchFamily="18" charset="0"/>
                    <a:cs typeface="Times New Roman" pitchFamily="18" charset="0"/>
                  </a:rPr>
                  <a:t>设论域  </a:t>
                </a:r>
                <a:r>
                  <a:rPr lang="en-US" altLang="zh-CN" sz="2000" b="0" dirty="0">
                    <a:latin typeface="Times New Roman" pitchFamily="18" charset="0"/>
                    <a:cs typeface="Times New Roman" pitchFamily="18" charset="0"/>
                  </a:rPr>
                  <a:t>U={u1, u2, … , un}</a:t>
                </a:r>
                <a:r>
                  <a:rPr lang="zh-CN" altLang="en-US" sz="2000" b="0" dirty="0">
                    <a:latin typeface="Times New Roman" pitchFamily="18" charset="0"/>
                    <a:cs typeface="Times New Roman" pitchFamily="18" charset="0"/>
                  </a:rPr>
                  <a:t>为离散论域，则其模糊集可表示为：</a:t>
                </a:r>
              </a:p>
              <a:p>
                <a:pPr marL="400050" lvl="1" indent="0">
                  <a:buNone/>
                </a:pPr>
                <a:r>
                  <a:rPr lang="zh-CN" altLang="en-US" sz="2200" b="0" dirty="0">
                    <a:latin typeface="Times New Roman" pitchFamily="18" charset="0"/>
                    <a:cs typeface="Times New Roman" pitchFamily="18" charset="0"/>
                  </a:rPr>
                  <a:t>        </a:t>
                </a:r>
                <a:r>
                  <a:rPr lang="en-US" altLang="zh-CN" sz="2200" b="0" dirty="0">
                    <a:latin typeface="Times New Roman" pitchFamily="18" charset="0"/>
                    <a:cs typeface="Times New Roman" pitchFamily="18" charset="0"/>
                  </a:rPr>
                  <a:t>F={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b="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b="0" dirty="0">
                    <a:latin typeface="Times New Roman" pitchFamily="18" charset="0"/>
                    <a:cs typeface="Times New Roman" pitchFamily="18" charset="0"/>
                  </a:rPr>
                  <a:t>, … ,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b="0" dirty="0">
                    <a:latin typeface="Times New Roman" pitchFamily="18" charset="0"/>
                    <a:cs typeface="Times New Roman" pitchFamily="18" charset="0"/>
                  </a:rPr>
                  <a:t>}</a:t>
                </a:r>
              </a:p>
              <a:p>
                <a:pPr marL="400050" lvl="1" indent="0">
                  <a:buNone/>
                </a:pPr>
                <a:r>
                  <a:rPr lang="zh-CN" altLang="en-US" sz="2000" dirty="0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rPr>
                  <a:t>为了能够表示出论域中的元素与其隶属度之间的对应关系，扎德引入了一种模糊集的表示方式：先为论域中的每个元素都标上其隶属度，然后再用“</a:t>
                </a:r>
                <a:r>
                  <a:rPr lang="en-US" altLang="zh-CN" sz="2000" dirty="0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rPr>
                  <a:t>+”</a:t>
                </a:r>
                <a:r>
                  <a:rPr lang="zh-CN" altLang="en-US" sz="2000" dirty="0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rPr>
                  <a:t>号把它们连接起来，</a:t>
                </a:r>
                <a:r>
                  <a:rPr lang="zh-CN" altLang="en-US" sz="2000" b="0" dirty="0">
                    <a:latin typeface="Times New Roman" pitchFamily="18" charset="0"/>
                    <a:cs typeface="Times New Roman" pitchFamily="18" charset="0"/>
                  </a:rPr>
                  <a:t>即</a:t>
                </a:r>
              </a:p>
              <a:p>
                <a:pPr marL="400050" lvl="1" indent="0">
                  <a:buNone/>
                </a:pPr>
                <a:endParaRPr lang="en-US" altLang="zh-CN" sz="2000" b="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400050" lvl="1" indent="0">
                  <a:buNone/>
                </a:pPr>
                <a:endParaRPr lang="zh-CN" altLang="en-US" sz="2000" b="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400050" lvl="1" indent="0">
                  <a:buNone/>
                </a:pPr>
                <a:r>
                  <a:rPr lang="zh-CN" altLang="en-US" sz="2200" b="0" dirty="0">
                    <a:latin typeface="Times New Roman" pitchFamily="18" charset="0"/>
                    <a:cs typeface="Times New Roman" pitchFamily="18" charset="0"/>
                  </a:rPr>
                  <a:t>也可写</a:t>
                </a:r>
                <a:endParaRPr lang="en-US" altLang="zh-CN" sz="2200" b="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200" b="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400050" lvl="1" indent="0">
                  <a:buNone/>
                </a:pPr>
                <a:r>
                  <a:rPr lang="zh-CN" altLang="en-US" sz="2200" b="0" dirty="0">
                    <a:latin typeface="Times New Roman" pitchFamily="18" charset="0"/>
                    <a:cs typeface="Times New Roman" pitchFamily="18" charset="0"/>
                  </a:rPr>
                  <a:t>其中</a:t>
                </a:r>
                <a:r>
                  <a:rPr lang="en-US" altLang="zh-CN" sz="2200" b="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b="0" dirty="0">
                    <a:latin typeface="Times New Roman" pitchFamily="18" charset="0"/>
                    <a:cs typeface="Times New Roman" pitchFamily="18" charset="0"/>
                  </a:rPr>
                  <a:t> 为 </a:t>
                </a:r>
                <a:r>
                  <a:rPr lang="en-US" altLang="zh-CN" sz="2200" b="0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200" b="0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zh-CN" sz="2200" b="0" baseline="-25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200" b="0" dirty="0">
                    <a:latin typeface="Times New Roman" pitchFamily="18" charset="0"/>
                    <a:cs typeface="Times New Roman" pitchFamily="18" charset="0"/>
                  </a:rPr>
                  <a:t>对</a:t>
                </a:r>
                <a:r>
                  <a:rPr lang="en-US" altLang="zh-CN" sz="2200" b="0" dirty="0"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zh-CN" altLang="en-US" sz="2200" b="0" dirty="0">
                    <a:latin typeface="Times New Roman" pitchFamily="18" charset="0"/>
                    <a:cs typeface="Times New Roman" pitchFamily="18" charset="0"/>
                  </a:rPr>
                  <a:t>的隶属度；“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b="0" dirty="0">
                    <a:latin typeface="Times New Roman" pitchFamily="18" charset="0"/>
                    <a:cs typeface="Times New Roman" pitchFamily="18" charset="0"/>
                  </a:rPr>
                  <a:t>/  </a:t>
                </a:r>
                <a:r>
                  <a:rPr lang="en-US" altLang="zh-CN" sz="2200" b="0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200" b="0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zh-CN" sz="2200" b="0" dirty="0">
                    <a:latin typeface="Times New Roman" pitchFamily="18" charset="0"/>
                    <a:cs typeface="Times New Roman" pitchFamily="18" charset="0"/>
                  </a:rPr>
                  <a:t> ”</a:t>
                </a:r>
                <a:r>
                  <a:rPr lang="zh-CN" altLang="en-US" sz="2200" b="0" dirty="0">
                    <a:latin typeface="Times New Roman" pitchFamily="18" charset="0"/>
                    <a:cs typeface="Times New Roman" pitchFamily="18" charset="0"/>
                  </a:rPr>
                  <a:t>不是相除关系，只是一个记号；“</a:t>
                </a:r>
                <a:r>
                  <a:rPr lang="en-US" altLang="zh-CN" sz="2200" b="0" dirty="0">
                    <a:latin typeface="Times New Roman" pitchFamily="18" charset="0"/>
                    <a:cs typeface="Times New Roman" pitchFamily="18" charset="0"/>
                  </a:rPr>
                  <a:t>+”</a:t>
                </a:r>
                <a:r>
                  <a:rPr lang="zh-CN" altLang="en-US" sz="2200" b="0" dirty="0">
                    <a:latin typeface="Times New Roman" pitchFamily="18" charset="0"/>
                    <a:cs typeface="Times New Roman" pitchFamily="18" charset="0"/>
                  </a:rPr>
                  <a:t>也不是算术意义上的加，只是一个连接符号。</a:t>
                </a:r>
              </a:p>
              <a:p>
                <a:pPr marL="400050" lvl="1" indent="0">
                  <a:buNone/>
                </a:pPr>
                <a:r>
                  <a:rPr lang="zh-CN" altLang="en-US" sz="2200" b="0" dirty="0">
                    <a:latin typeface="Times New Roman" pitchFamily="18" charset="0"/>
                    <a:cs typeface="Times New Roman" pitchFamily="18" charset="0"/>
                  </a:rPr>
                  <a:t>    </a:t>
                </a: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4744"/>
                <a:ext cx="8229600" cy="4790157"/>
              </a:xfrm>
              <a:blipFill>
                <a:blip r:embed="rId3"/>
                <a:stretch>
                  <a:fillRect l="-296" t="-1019" r="-667" b="-16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C28869DA-3F7B-41B3-8A14-A74F1C2AB94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691680" y="3645024"/>
                <a:ext cx="7272808" cy="4333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0838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59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163" indent="-33972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138363" indent="-33972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595563" indent="-33972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052763" indent="-33972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509963" indent="-33972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40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sz="2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sz="2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sz="2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4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400" kern="0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C28869DA-3F7B-41B3-8A14-A74F1C2AB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680" y="3645024"/>
                <a:ext cx="7272808" cy="433388"/>
              </a:xfrm>
              <a:prstGeom prst="rect">
                <a:avLst/>
              </a:prstGeom>
              <a:blipFill>
                <a:blip r:embed="rId4"/>
                <a:stretch>
                  <a:fillRect l="-251" b="-281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AD3333-F042-4DDC-8FFF-E6617FEB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514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模糊集的表示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2500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+mj-lt"/>
              </a:rPr>
              <a:t>在这种表示方法中，当某个</a:t>
            </a:r>
            <a:r>
              <a:rPr lang="en-US" altLang="zh-CN" sz="2400" dirty="0" err="1">
                <a:solidFill>
                  <a:srgbClr val="0000CC"/>
                </a:solidFill>
                <a:latin typeface="+mj-lt"/>
              </a:rPr>
              <a:t>u</a:t>
            </a:r>
            <a:r>
              <a:rPr lang="en-US" altLang="zh-CN" sz="2400" baseline="-25000" dirty="0" err="1">
                <a:solidFill>
                  <a:srgbClr val="0000CC"/>
                </a:solidFill>
                <a:latin typeface="+mj-lt"/>
              </a:rPr>
              <a:t>i</a:t>
            </a:r>
            <a:r>
              <a:rPr lang="zh-CN" altLang="en-US" sz="2400" dirty="0">
                <a:solidFill>
                  <a:srgbClr val="0000CC"/>
                </a:solidFill>
                <a:latin typeface="+mj-lt"/>
              </a:rPr>
              <a:t>对</a:t>
            </a:r>
            <a:r>
              <a:rPr lang="en-US" altLang="zh-CN" sz="2400" dirty="0">
                <a:solidFill>
                  <a:srgbClr val="0000CC"/>
                </a:solidFill>
                <a:latin typeface="+mj-lt"/>
              </a:rPr>
              <a:t>F</a:t>
            </a:r>
            <a:r>
              <a:rPr lang="zh-CN" altLang="en-US" sz="2400" dirty="0">
                <a:solidFill>
                  <a:srgbClr val="0000CC"/>
                </a:solidFill>
                <a:latin typeface="+mj-lt"/>
              </a:rPr>
              <a:t>的隶属度</a:t>
            </a:r>
            <a:r>
              <a:rPr lang="en-US" altLang="zh-CN" sz="2400" dirty="0">
                <a:solidFill>
                  <a:srgbClr val="0000CC"/>
                </a:solidFill>
                <a:latin typeface="+mj-lt"/>
              </a:rPr>
              <a:t>=0</a:t>
            </a:r>
            <a:r>
              <a:rPr lang="zh-CN" altLang="en-US" sz="2400" dirty="0">
                <a:solidFill>
                  <a:srgbClr val="0000CC"/>
                </a:solidFill>
                <a:latin typeface="+mj-lt"/>
              </a:rPr>
              <a:t>时，可省略不写。</a:t>
            </a:r>
            <a:endParaRPr lang="en-US" altLang="zh-CN" sz="2400" dirty="0">
              <a:solidFill>
                <a:srgbClr val="0000CC"/>
              </a:solidFill>
              <a:latin typeface="+mj-lt"/>
            </a:endParaRPr>
          </a:p>
          <a:p>
            <a:pPr marL="400050" lvl="1" indent="0">
              <a:lnSpc>
                <a:spcPct val="120000"/>
              </a:lnSpc>
              <a:spcBef>
                <a:spcPct val="25000"/>
              </a:spcBef>
              <a:buNone/>
            </a:pPr>
            <a:r>
              <a:rPr lang="zh-CN" altLang="en-US" sz="2200" dirty="0">
                <a:solidFill>
                  <a:srgbClr val="00B050"/>
                </a:solidFill>
                <a:latin typeface="+mj-lt"/>
              </a:rPr>
              <a:t>例如，模糊集</a:t>
            </a:r>
            <a:r>
              <a:rPr lang="en-US" altLang="zh-CN" sz="2200" dirty="0">
                <a:solidFill>
                  <a:srgbClr val="00B050"/>
                </a:solidFill>
                <a:latin typeface="+mj-lt"/>
              </a:rPr>
              <a:t>F</a:t>
            </a:r>
            <a:r>
              <a:rPr lang="zh-CN" altLang="en-US" sz="2200" dirty="0">
                <a:solidFill>
                  <a:srgbClr val="00B050"/>
                </a:solidFill>
                <a:latin typeface="+mj-lt"/>
              </a:rPr>
              <a:t>可表示为：</a:t>
            </a:r>
          </a:p>
          <a:p>
            <a:pPr marL="400050" lvl="1" indent="0">
              <a:lnSpc>
                <a:spcPct val="120000"/>
              </a:lnSpc>
              <a:spcBef>
                <a:spcPct val="25000"/>
              </a:spcBef>
              <a:buNone/>
            </a:pPr>
            <a:r>
              <a:rPr lang="zh-CN" altLang="en-US" sz="2200" dirty="0">
                <a:solidFill>
                  <a:srgbClr val="00B050"/>
                </a:solidFill>
                <a:latin typeface="+mj-lt"/>
              </a:rPr>
              <a:t>     </a:t>
            </a:r>
            <a:r>
              <a:rPr lang="en-US" altLang="zh-CN" sz="2200" dirty="0">
                <a:solidFill>
                  <a:srgbClr val="00B050"/>
                </a:solidFill>
                <a:latin typeface="+mj-lt"/>
              </a:rPr>
              <a:t>F= 1/20+ 0.8/30+ 0.6/40+ 0.2/50</a:t>
            </a:r>
          </a:p>
          <a:p>
            <a:pPr marL="400050" lvl="1" indent="0">
              <a:lnSpc>
                <a:spcPct val="120000"/>
              </a:lnSpc>
              <a:spcBef>
                <a:spcPct val="25000"/>
              </a:spcBef>
              <a:buNone/>
            </a:pPr>
            <a:r>
              <a:rPr lang="en-US" altLang="zh-CN" sz="2200" dirty="0">
                <a:solidFill>
                  <a:srgbClr val="0000CC"/>
                </a:solidFill>
                <a:latin typeface="+mj-lt"/>
              </a:rPr>
              <a:t>    </a:t>
            </a:r>
            <a:r>
              <a:rPr lang="zh-CN" altLang="en-US" sz="2200" dirty="0">
                <a:solidFill>
                  <a:srgbClr val="7030A0"/>
                </a:solidFill>
                <a:latin typeface="+mj-lt"/>
              </a:rPr>
              <a:t>有时，模糊集也可写成如下两种形式：</a:t>
            </a:r>
          </a:p>
          <a:p>
            <a:pPr marL="400050" lvl="1" indent="0">
              <a:lnSpc>
                <a:spcPct val="120000"/>
              </a:lnSpc>
              <a:spcBef>
                <a:spcPct val="25000"/>
              </a:spcBef>
              <a:buNone/>
            </a:pPr>
            <a:endParaRPr lang="zh-CN" altLang="en-US" sz="2200" dirty="0">
              <a:solidFill>
                <a:srgbClr val="7030A0"/>
              </a:solidFill>
              <a:latin typeface="+mj-lt"/>
            </a:endParaRPr>
          </a:p>
          <a:p>
            <a:pPr marL="400050" lvl="1" indent="0">
              <a:lnSpc>
                <a:spcPct val="120000"/>
              </a:lnSpc>
              <a:spcBef>
                <a:spcPct val="25000"/>
              </a:spcBef>
              <a:buNone/>
            </a:pPr>
            <a:endParaRPr lang="zh-CN" altLang="en-US" sz="2200" dirty="0">
              <a:solidFill>
                <a:srgbClr val="7030A0"/>
              </a:solidFill>
              <a:latin typeface="+mj-lt"/>
            </a:endParaRPr>
          </a:p>
          <a:p>
            <a:pPr marL="400050" lvl="1" indent="0">
              <a:lnSpc>
                <a:spcPct val="120000"/>
              </a:lnSpc>
              <a:spcBef>
                <a:spcPct val="25000"/>
              </a:spcBef>
              <a:buNone/>
            </a:pPr>
            <a:endParaRPr lang="zh-CN" altLang="en-US" sz="2200" dirty="0">
              <a:solidFill>
                <a:srgbClr val="7030A0"/>
              </a:solidFill>
              <a:latin typeface="+mj-lt"/>
            </a:endParaRPr>
          </a:p>
          <a:p>
            <a:pPr marL="400050" lvl="1" indent="0">
              <a:lnSpc>
                <a:spcPct val="120000"/>
              </a:lnSpc>
              <a:spcBef>
                <a:spcPct val="25000"/>
              </a:spcBef>
              <a:buNone/>
            </a:pPr>
            <a:r>
              <a:rPr lang="zh-CN" altLang="en-US" sz="2200" dirty="0">
                <a:solidFill>
                  <a:srgbClr val="7030A0"/>
                </a:solidFill>
                <a:latin typeface="+mj-lt"/>
              </a:rPr>
              <a:t>其中，前一种称为单点形式，后一种称为序偶形式。</a:t>
            </a:r>
          </a:p>
          <a:p>
            <a:pPr>
              <a:spcBef>
                <a:spcPts val="1200"/>
              </a:spcBef>
            </a:pPr>
            <a:endParaRPr lang="en-US" altLang="zh-CN" sz="2400" b="0" dirty="0">
              <a:latin typeface="+mj-lt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lang="en-US" altLang="zh-CN" sz="2400" b="0" dirty="0">
              <a:latin typeface="+mj-lt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lang="en-US" altLang="zh-CN" sz="24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lang="en-US" altLang="zh-CN" sz="24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lang="en-US" altLang="zh-CN" sz="2400" b="0" dirty="0">
              <a:latin typeface="Arial" pitchFamily="34" charset="0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F1C85492-8372-4BFD-870E-ADE0D7807D13}"/>
                  </a:ext>
                </a:extLst>
              </p:cNvPr>
              <p:cNvSpPr txBox="1"/>
              <p:nvPr/>
            </p:nvSpPr>
            <p:spPr bwMode="auto">
              <a:xfrm>
                <a:off x="1475656" y="4077072"/>
                <a:ext cx="5473700" cy="1108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或者</m:t>
                      </m:r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),⋯,(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F1C85492-8372-4BFD-870E-ADE0D7807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5656" y="4077072"/>
                <a:ext cx="5473700" cy="1108075"/>
              </a:xfrm>
              <a:prstGeom prst="rect">
                <a:avLst/>
              </a:prstGeom>
              <a:blipFill>
                <a:blip r:embed="rId3"/>
                <a:stretch>
                  <a:fillRect l="-2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EF37BF9-4E60-44F9-B78E-9D157FEF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907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模糊集的表示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4790157"/>
              </a:xfrm>
            </p:spPr>
            <p:txBody>
              <a:bodyPr/>
              <a:lstStyle/>
              <a:p>
                <a:pPr marL="0" indent="0">
                  <a:spcBef>
                    <a:spcPts val="1200"/>
                  </a:spcBef>
                  <a:buNone/>
                </a:pPr>
                <a:r>
                  <a:rPr lang="zh-CN" altLang="en-US" sz="1600" dirty="0">
                    <a:solidFill>
                      <a:srgbClr val="A50021"/>
                    </a:solidFill>
                    <a:latin typeface="幼圆" pitchFamily="49" charset="-122"/>
                    <a:ea typeface="幼圆" pitchFamily="49" charset="-122"/>
                  </a:rPr>
                  <a:t>   连续论域的表示方法</a:t>
                </a:r>
              </a:p>
              <a:p>
                <a:pPr>
                  <a:spcBef>
                    <a:spcPts val="1200"/>
                  </a:spcBef>
                </a:pPr>
                <a:r>
                  <a:rPr lang="zh-CN" altLang="en-US" sz="1600" dirty="0">
                    <a:solidFill>
                      <a:srgbClr val="0000CC"/>
                    </a:solidFill>
                    <a:latin typeface="幼圆" pitchFamily="49" charset="-122"/>
                    <a:ea typeface="幼圆" pitchFamily="49" charset="-122"/>
                  </a:rPr>
                  <a:t>    如果论域是连续的，则其模糊集可用一个实函数来表示。</a:t>
                </a:r>
                <a:endParaRPr lang="en-US" altLang="zh-CN" sz="1600" dirty="0">
                  <a:solidFill>
                    <a:srgbClr val="0000CC"/>
                  </a:solidFill>
                  <a:latin typeface="幼圆" pitchFamily="49" charset="-122"/>
                  <a:ea typeface="幼圆" pitchFamily="49" charset="-122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zh-CN" altLang="en-US" sz="1600" dirty="0">
                    <a:solidFill>
                      <a:srgbClr val="00B050"/>
                    </a:solidFill>
                    <a:latin typeface="仿宋_GB2312" pitchFamily="49" charset="-122"/>
                    <a:ea typeface="仿宋_GB2312" pitchFamily="49" charset="-122"/>
                  </a:rPr>
                  <a:t>例如，扎德以年龄为论域，取</a:t>
                </a:r>
                <a:r>
                  <a:rPr lang="en-US" altLang="zh-CN" sz="1600" dirty="0">
                    <a:solidFill>
                      <a:srgbClr val="00B050"/>
                    </a:solidFill>
                    <a:latin typeface="仿宋_GB2312" pitchFamily="49" charset="-122"/>
                    <a:ea typeface="仿宋_GB2312" pitchFamily="49" charset="-122"/>
                  </a:rPr>
                  <a:t>U=[0, 100]</a:t>
                </a:r>
                <a:r>
                  <a:rPr lang="zh-CN" altLang="en-US" sz="1600" dirty="0">
                    <a:solidFill>
                      <a:srgbClr val="00B050"/>
                    </a:solidFill>
                    <a:latin typeface="仿宋_GB2312" pitchFamily="49" charset="-122"/>
                    <a:ea typeface="仿宋_GB2312" pitchFamily="49" charset="-122"/>
                  </a:rPr>
                  <a:t>，给出了“年轻”与“年老”这两的模糊概念的隶属函数</a:t>
                </a:r>
              </a:p>
              <a:p>
                <a:pPr marL="0" indent="0">
                  <a:buNone/>
                </a:pPr>
                <a:br>
                  <a:rPr lang="zh-CN" altLang="en-US" sz="1600" dirty="0">
                    <a:latin typeface="幼圆" pitchFamily="49" charset="-122"/>
                    <a:ea typeface="幼圆" pitchFamily="49" charset="-122"/>
                  </a:rPr>
                </a:br>
                <a:r>
                  <a:rPr lang="zh-CN" altLang="en-US" sz="1600" dirty="0">
                    <a:latin typeface="幼圆" pitchFamily="49" charset="-122"/>
                    <a:ea typeface="幼圆" pitchFamily="49" charset="-12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年老</m:t>
                        </m:r>
                      </m:sub>
                    </m:sSub>
                    <m:r>
                      <a:rPr lang="zh-CN" alt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&amp;0</m:t>
                            </m:r>
                          </m:e>
                          <m:e>
                            <m:r>
                              <a:rPr lang="zh-CN" alt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&amp;[1+(</m:t>
                            </m:r>
                            <m:f>
                              <m:fPr>
                                <m:ctrlP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−50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eqArr>
                      </m:e>
                    </m:d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zh-CN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eqArr>
                            <m:eqArrPr>
                              <m:ctrlP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当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≤50</m:t>
                              </m:r>
                            </m:e>
                            <m:e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当</m:t>
                              </m:r>
                              <m:r>
                                <m:rPr>
                                  <m:nor/>
                                </m:rPr>
                                <a:rPr lang="zh-CN" alt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zh-CN" alt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eqArr>
                        </m:e>
                      </m:mr>
                    </m:m>
                  </m:oMath>
                </a14:m>
                <a:r>
                  <a:rPr lang="zh-CN" altLang="en-US" sz="1400" dirty="0">
                    <a:latin typeface="幼圆" pitchFamily="49" charset="-122"/>
                    <a:ea typeface="幼圆" pitchFamily="49" charset="-122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年轻</m:t>
                        </m:r>
                      </m:sub>
                    </m:sSub>
                    <m:r>
                      <a:rPr lang="zh-CN" alt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&amp;1</m:t>
                            </m:r>
                          </m:e>
                          <m:e>
                            <m:r>
                              <a:rPr lang="zh-CN" alt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&amp;[1+(</m:t>
                            </m:r>
                            <m:f>
                              <m:fPr>
                                <m:ctrlP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−25</m:t>
                                </m:r>
                              </m:num>
                              <m:den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zh-CN" alt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eqArr>
                      </m:e>
                    </m:d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zh-CN" alt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eqArr>
                            <m:eqArrPr>
                              <m:ctrlP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当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≤25</m:t>
                              </m:r>
                            </m:e>
                            <m:e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当</m:t>
                              </m:r>
                              <m:r>
                                <m:rPr>
                                  <m:nor/>
                                </m:rPr>
                                <a:rPr lang="zh-CN" alt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zh-CN" alt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zh-CN" alt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eqArr>
                        </m:e>
                      </m:mr>
                    </m:m>
                  </m:oMath>
                </a14:m>
                <a:endParaRPr lang="zh-CN" altLang="en-US" sz="1400" dirty="0">
                  <a:latin typeface="幼圆" pitchFamily="49" charset="-122"/>
                  <a:ea typeface="幼圆" pitchFamily="49" charset="-122"/>
                </a:endParaRPr>
              </a:p>
              <a:p>
                <a:pPr marL="0" indent="0">
                  <a:buNone/>
                </a:pPr>
                <a:endParaRPr lang="zh-CN" altLang="en-US" sz="1600" dirty="0">
                  <a:latin typeface="幼圆" pitchFamily="49" charset="-122"/>
                  <a:ea typeface="幼圆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1600" dirty="0">
                    <a:solidFill>
                      <a:srgbClr val="A50021"/>
                    </a:solidFill>
                    <a:latin typeface="幼圆" pitchFamily="49" charset="-122"/>
                    <a:ea typeface="幼圆" pitchFamily="49" charset="-122"/>
                  </a:rPr>
                  <a:t>    一般表示方法</a:t>
                </a:r>
              </a:p>
              <a:p>
                <a:r>
                  <a:rPr lang="zh-CN" altLang="en-US" sz="1600" dirty="0">
                    <a:solidFill>
                      <a:srgbClr val="0000CC"/>
                    </a:solidFill>
                    <a:latin typeface="幼圆" pitchFamily="49" charset="-122"/>
                    <a:ea typeface="幼圆" pitchFamily="49" charset="-122"/>
                  </a:rPr>
                  <a:t>    不管论域</a:t>
                </a:r>
                <a:r>
                  <a:rPr lang="en-US" altLang="zh-CN" sz="1600" dirty="0">
                    <a:solidFill>
                      <a:srgbClr val="0000CC"/>
                    </a:solidFill>
                    <a:latin typeface="幼圆" pitchFamily="49" charset="-122"/>
                    <a:ea typeface="幼圆" pitchFamily="49" charset="-122"/>
                  </a:rPr>
                  <a:t>U</a:t>
                </a:r>
                <a:r>
                  <a:rPr lang="zh-CN" altLang="en-US" sz="1600" dirty="0">
                    <a:solidFill>
                      <a:srgbClr val="0000CC"/>
                    </a:solidFill>
                    <a:latin typeface="幼圆" pitchFamily="49" charset="-122"/>
                    <a:ea typeface="幼圆" pitchFamily="49" charset="-122"/>
                  </a:rPr>
                  <a:t>是有限的还是无限的，是连续的还是离散的，扎德又给出了一种类似于积分的一般表示形式：</a:t>
                </a:r>
              </a:p>
              <a:p>
                <a:endParaRPr lang="zh-CN" altLang="en-US" sz="1600" dirty="0">
                  <a:solidFill>
                    <a:srgbClr val="0000CC"/>
                  </a:solidFill>
                  <a:latin typeface="幼圆" pitchFamily="49" charset="-122"/>
                  <a:ea typeface="幼圆" pitchFamily="49" charset="-122"/>
                </a:endParaRPr>
              </a:p>
              <a:p>
                <a:pPr marL="0" indent="0">
                  <a:buNone/>
                </a:pPr>
                <a:endParaRPr lang="zh-CN" altLang="en-US" sz="1600" dirty="0">
                  <a:solidFill>
                    <a:srgbClr val="0000CC"/>
                  </a:solidFill>
                  <a:latin typeface="幼圆" pitchFamily="49" charset="-122"/>
                  <a:ea typeface="幼圆" pitchFamily="49" charset="-122"/>
                </a:endParaRPr>
              </a:p>
              <a:p>
                <a:r>
                  <a:rPr lang="zh-CN" altLang="en-US" sz="1600" dirty="0">
                    <a:solidFill>
                      <a:srgbClr val="0000CC"/>
                    </a:solidFill>
                    <a:latin typeface="幼圆" pitchFamily="49" charset="-122"/>
                    <a:ea typeface="幼圆" pitchFamily="49" charset="-122"/>
                  </a:rPr>
                  <a:t>    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幼圆" pitchFamily="49" charset="-122"/>
                    <a:ea typeface="幼圆" pitchFamily="49" charset="-122"/>
                  </a:rPr>
                  <a:t>这里的记号不是数学中的积分符号，也不是求和，只是表示论域中各元素与其隶属度对应关系的总括。</a:t>
                </a:r>
              </a:p>
              <a:p>
                <a:pPr>
                  <a:spcBef>
                    <a:spcPts val="1200"/>
                  </a:spcBef>
                </a:pPr>
                <a:endParaRPr lang="en-US" altLang="zh-CN" sz="2400" b="0" dirty="0">
                  <a:latin typeface="Arial" pitchFamily="34" charset="0"/>
                  <a:ea typeface="黑体" pitchFamily="49" charset="-122"/>
                </a:endParaRPr>
              </a:p>
              <a:p>
                <a:pPr>
                  <a:spcBef>
                    <a:spcPts val="1200"/>
                  </a:spcBef>
                </a:pPr>
                <a:endParaRPr lang="en-US" altLang="zh-CN" sz="2400" b="0" dirty="0">
                  <a:latin typeface="Arial" pitchFamily="34" charset="0"/>
                  <a:ea typeface="黑体" pitchFamily="49" charset="-122"/>
                </a:endParaRPr>
              </a:p>
              <a:p>
                <a:pPr lvl="1">
                  <a:spcBef>
                    <a:spcPts val="1200"/>
                  </a:spcBef>
                </a:pPr>
                <a:endParaRPr lang="en-US" altLang="zh-CN" sz="2000" b="0" dirty="0">
                  <a:latin typeface="Arial" pitchFamily="34" charset="0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4790157"/>
              </a:xfrm>
              <a:blipFill>
                <a:blip r:embed="rId3"/>
                <a:stretch>
                  <a:fillRect t="-382" r="-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9">
                <a:extLst>
                  <a:ext uri="{FF2B5EF4-FFF2-40B4-BE49-F238E27FC236}">
                    <a16:creationId xmlns:a16="http://schemas.microsoft.com/office/drawing/2014/main" id="{F24FAE45-4942-4467-A2C6-963AE49A8BE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63888" y="4581128"/>
                <a:ext cx="2304256" cy="720080"/>
              </a:xfrm>
              <a:prstGeom prst="rect">
                <a:avLst/>
              </a:prstGeom>
              <a:noFill/>
              <a:effectLst/>
            </p:spPr>
            <p:txBody>
              <a:bodyPr>
                <a:normAutofit fontScale="92500"/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0838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59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163" indent="-33972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138363" indent="-33972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595563" indent="-33972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052763" indent="-33972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509963" indent="-33972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160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zh-CN" alt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sz="16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16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zh-CN" alt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zh-CN" alt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nary>
                    </m:oMath>
                  </m:oMathPara>
                </a14:m>
                <a:endParaRPr lang="zh-CN" altLang="en-US" sz="1600" kern="0" dirty="0"/>
              </a:p>
            </p:txBody>
          </p:sp>
        </mc:Choice>
        <mc:Fallback xmlns="">
          <p:sp>
            <p:nvSpPr>
              <p:cNvPr id="9" name="Object 19">
                <a:extLst>
                  <a:ext uri="{FF2B5EF4-FFF2-40B4-BE49-F238E27FC236}">
                    <a16:creationId xmlns:a16="http://schemas.microsoft.com/office/drawing/2014/main" id="{F24FAE45-4942-4467-A2C6-963AE49A8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888" y="4581128"/>
                <a:ext cx="2304256" cy="7200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CC99D7-57EF-4FA7-B17D-D166986E4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模糊集的运算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4790157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kumimoji="1" lang="en-US" altLang="zh-CN" sz="2400" dirty="0">
                    <a:solidFill>
                      <a:srgbClr val="0000CC"/>
                    </a:solidFill>
                    <a:latin typeface="幼圆" pitchFamily="49" charset="-122"/>
                    <a:ea typeface="幼圆" pitchFamily="49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CC3300"/>
                    </a:solidFill>
                    <a:latin typeface="幼圆" pitchFamily="49" charset="-122"/>
                    <a:ea typeface="幼圆" pitchFamily="49" charset="-122"/>
                  </a:rPr>
                  <a:t>定义  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设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F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、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G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分别是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U 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上的两个模糊集，对任意</a:t>
                </a:r>
                <a:r>
                  <a:rPr kumimoji="1" lang="en-US" altLang="zh-CN" sz="2400" dirty="0" err="1">
                    <a:latin typeface="幼圆" pitchFamily="49" charset="-122"/>
                    <a:ea typeface="幼圆" pitchFamily="49" charset="-122"/>
                  </a:rPr>
                  <a:t>u∈U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，都有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成立，则称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F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等于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G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，记为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F=G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。 </a:t>
                </a:r>
                <a:endParaRPr kumimoji="1" lang="en-US" altLang="zh-CN" sz="2400" dirty="0">
                  <a:latin typeface="幼圆" pitchFamily="49" charset="-122"/>
                  <a:ea typeface="幼圆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endParaRPr kumimoji="1" lang="en-US" altLang="zh-CN" sz="2400" dirty="0">
                  <a:latin typeface="幼圆" pitchFamily="49" charset="-122"/>
                  <a:ea typeface="幼圆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endParaRPr kumimoji="1" lang="en-US" altLang="zh-CN" sz="2400" dirty="0">
                  <a:latin typeface="幼圆" pitchFamily="49" charset="-122"/>
                  <a:ea typeface="幼圆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设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F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、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G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分别是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U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上的两个模糊集，对任意</a:t>
                </a:r>
                <a:r>
                  <a:rPr kumimoji="1" lang="en-US" altLang="zh-CN" sz="2400" dirty="0" err="1">
                    <a:latin typeface="幼圆" pitchFamily="49" charset="-122"/>
                    <a:ea typeface="幼圆" pitchFamily="49" charset="-122"/>
                  </a:rPr>
                  <a:t>u∈U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，都有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成立，则称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F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包含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G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，记为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F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kumimoji="1" lang="en-US" altLang="zh-CN" sz="2400" dirty="0">
                    <a:latin typeface="幼圆" pitchFamily="49" charset="-122"/>
                    <a:ea typeface="幼圆" pitchFamily="49" charset="-122"/>
                  </a:rPr>
                  <a:t>G</a:t>
                </a:r>
                <a:r>
                  <a:rPr kumimoji="1" lang="zh-CN" altLang="en-US" sz="2400" dirty="0">
                    <a:latin typeface="幼圆" pitchFamily="49" charset="-122"/>
                    <a:ea typeface="幼圆" pitchFamily="49" charset="-122"/>
                  </a:rPr>
                  <a:t>。</a:t>
                </a:r>
                <a:endParaRPr lang="en-US" altLang="zh-CN" sz="2400" b="0" dirty="0">
                  <a:latin typeface="Arial" pitchFamily="34" charset="0"/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4790157"/>
              </a:xfrm>
              <a:blipFill>
                <a:blip r:embed="rId3"/>
                <a:stretch>
                  <a:fillRect l="-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419451-6EB5-405E-B924-0D4CE436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51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模糊集的运算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7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定义 </a:t>
            </a:r>
            <a:r>
              <a:rPr kumimoji="1" lang="en-US" altLang="zh-CN" sz="24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设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F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、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G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分别是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U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上的两个模糊集，则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F∪G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、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F∩G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分别称为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F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与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G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的并集、交集，它们的隶属函数分别为</a:t>
            </a:r>
            <a:r>
              <a:rPr kumimoji="1" lang="zh-CN" altLang="en-US" sz="2400" dirty="0">
                <a:solidFill>
                  <a:srgbClr val="0000CC"/>
                </a:solidFill>
                <a:latin typeface="宋体" pitchFamily="2" charset="-122"/>
              </a:rPr>
              <a:t>：</a:t>
            </a:r>
            <a:r>
              <a:rPr kumimoji="1" lang="zh-CN" altLang="en-US" sz="2400" dirty="0">
                <a:solidFill>
                  <a:schemeClr val="tx2"/>
                </a:solidFill>
                <a:latin typeface="Tahoma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kumimoji="1" lang="en-US" altLang="zh-CN" sz="2400" dirty="0"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kumimoji="1" lang="en-US" altLang="zh-CN" sz="2400" dirty="0"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kumimoji="1" lang="en-US" altLang="zh-CN" sz="2400" dirty="0">
              <a:latin typeface="幼圆" pitchFamily="49" charset="-122"/>
              <a:ea typeface="幼圆" pitchFamily="49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定义</a:t>
            </a:r>
            <a:r>
              <a:rPr kumimoji="1" lang="en-US" altLang="zh-CN" sz="24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设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F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为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U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上的模糊集，称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﹁F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为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F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的补集，其隶属函数为：</a:t>
            </a:r>
            <a:r>
              <a:rPr kumimoji="1" lang="zh-CN" altLang="en-US" sz="2400" dirty="0">
                <a:latin typeface="Tahoma" pitchFamily="34" charset="0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5C4FEA80-4B7B-44A5-AF24-1C6C0DA34D37}"/>
                  </a:ext>
                </a:extLst>
              </p:cNvPr>
              <p:cNvSpPr txBox="1"/>
              <p:nvPr/>
            </p:nvSpPr>
            <p:spPr bwMode="auto">
              <a:xfrm>
                <a:off x="2267744" y="2564904"/>
                <a:ext cx="4775200" cy="10087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/>
                      </m:limLow>
                      <m:d>
                        <m:dPr>
                          <m:begChr m:val="{"/>
                          <m:endChr m:val="}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),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/>
                      </m:limLow>
                      <m:d>
                        <m:dPr>
                          <m:begChr m:val="{"/>
                          <m:endChr m:val="}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),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5C4FEA80-4B7B-44A5-AF24-1C6C0DA34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2564904"/>
                <a:ext cx="4775200" cy="1008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5D253A29-924E-435F-9AE3-C8F55C97D791}"/>
                  </a:ext>
                </a:extLst>
              </p:cNvPr>
              <p:cNvSpPr txBox="1"/>
              <p:nvPr/>
            </p:nvSpPr>
            <p:spPr bwMode="auto">
              <a:xfrm>
                <a:off x="2807804" y="5157192"/>
                <a:ext cx="4140460" cy="4413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)=1−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5D253A29-924E-435F-9AE3-C8F55C97D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7804" y="5157192"/>
                <a:ext cx="4140460" cy="441325"/>
              </a:xfrm>
              <a:prstGeom prst="rect">
                <a:avLst/>
              </a:prstGeom>
              <a:blipFill>
                <a:blip r:embed="rId4"/>
                <a:stretch>
                  <a:fillRect b="-26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6100AB8-0647-4320-87A7-77279BAF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294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模糊集的运算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7"/>
          </a:xfrm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itchFamily="49" charset="-122"/>
                <a:ea typeface="幼圆" pitchFamily="49" charset="-122"/>
              </a:rPr>
              <a:t>两个模糊集之间的运算实际上就是逐点对隶属函数作相应的运算。 </a:t>
            </a:r>
          </a:p>
          <a:p>
            <a:pPr algn="just">
              <a:spcBef>
                <a:spcPct val="50000"/>
              </a:spcBef>
            </a:pPr>
            <a:endParaRPr kumimoji="1" lang="en-US" altLang="zh-CN" sz="2400" dirty="0">
              <a:solidFill>
                <a:srgbClr val="00B050"/>
              </a:solidFill>
              <a:latin typeface="Times New Roman" pitchFamily="18" charset="0"/>
              <a:ea typeface="仿宋_GB2312" pitchFamily="49" charset="-122"/>
              <a:cs typeface="Times New Roman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例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5.16 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设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U={1,2,3}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，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F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和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G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分别是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U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上的两个模糊集，即</a:t>
            </a:r>
          </a:p>
          <a:p>
            <a:pPr marL="0" indent="0" algn="just">
              <a:spcBef>
                <a:spcPct val="50000"/>
              </a:spcBef>
              <a:buNone/>
            </a:pP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F=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小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=1/1+0.6/2+0.1/3</a:t>
            </a:r>
          </a:p>
          <a:p>
            <a:pPr marL="0" indent="0" algn="just">
              <a:spcBef>
                <a:spcPct val="50000"/>
              </a:spcBef>
              <a:buNone/>
            </a:pP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 G=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大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=0.1/1+0.6/2+1/3</a:t>
            </a:r>
          </a:p>
          <a:p>
            <a:pPr marL="0" indent="0" algn="just">
              <a:spcBef>
                <a:spcPct val="50000"/>
              </a:spcBef>
              <a:buNone/>
            </a:pP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则 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F∪G=(1∨0.1)/1+(0.6∨0.6)/2+(0.1∨1)/3=1/1+0.6/2+1/3</a:t>
            </a:r>
          </a:p>
          <a:p>
            <a:pPr marL="0" indent="0" algn="just">
              <a:spcBef>
                <a:spcPct val="50000"/>
              </a:spcBef>
              <a:buNone/>
            </a:pP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  F∩G=(1∧0.1)/1+(0.6∧0.6)/2+(0.1∧1)=0.1/1+0.6/2+0.1/3</a:t>
            </a:r>
          </a:p>
          <a:p>
            <a:pPr marL="0" indent="0">
              <a:spcBef>
                <a:spcPct val="50000"/>
              </a:spcBef>
              <a:buNone/>
            </a:pP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    ﹁F=(1-1)/1+(1-0.6)/2+(1-0.1)/3=0.4/2+0.9/3 </a:t>
            </a:r>
          </a:p>
          <a:p>
            <a:pPr marL="0" indent="0">
              <a:spcBef>
                <a:spcPct val="50000"/>
              </a:spcBef>
              <a:buNone/>
            </a:pPr>
            <a:endParaRPr kumimoji="1" lang="en-US" altLang="zh-CN" sz="2400" dirty="0">
              <a:solidFill>
                <a:srgbClr val="00B050"/>
              </a:solidFill>
              <a:latin typeface="Times New Roman" pitchFamily="18" charset="0"/>
              <a:ea typeface="仿宋_GB2312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A78A57-1B16-4EE2-A694-4A146F54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667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“</a:t>
            </a:r>
            <a:r>
              <a:rPr lang="zh-CN" altLang="en-US" sz="4000" dirty="0"/>
              <a:t>又矮又瘦”</a:t>
            </a:r>
            <a:endParaRPr lang="zh-CN" altLang="en-US" sz="4000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U = {</a:t>
            </a: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甲</a:t>
            </a: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, </a:t>
            </a: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乙</a:t>
            </a: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, </a:t>
            </a: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丙</a:t>
            </a: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, </a:t>
            </a: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丁</a:t>
            </a: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}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         A = “</a:t>
            </a: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矮子”    隶属函数 </a:t>
            </a: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(0.9, 1, 0.6, 0)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         B = “</a:t>
            </a: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瘦子”    隶属函数 </a:t>
            </a: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(0.8, 0.2, 0.9, 1)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找出 </a:t>
            </a: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C = “</a:t>
            </a: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又矮又瘦”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C = A∩B   = ( 0.9∧0.8 , 1∧0.2 , 0.6∧0.9 , 0∧1 )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                     = ( 0.8, 0.2, 0.6, 0)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因此， 甲和丙比较符合条件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22744DD-EEF2-4200-9F28-75711C1C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46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描述数据</a:t>
            </a:r>
            <a:endParaRPr lang="zh-CN" altLang="en-US" sz="4000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7"/>
          </a:xfrm>
        </p:spPr>
        <p:txBody>
          <a:bodyPr/>
          <a:lstStyle/>
          <a:p>
            <a:r>
              <a:rPr lang="zh-CN" altLang="en-US" sz="2400" dirty="0"/>
              <a:t>一组学生共</a:t>
            </a:r>
            <a:r>
              <a:rPr lang="en-US" altLang="zh-CN" sz="2400" dirty="0"/>
              <a:t>10</a:t>
            </a:r>
            <a:r>
              <a:rPr lang="zh-CN" altLang="en-US" sz="2400" dirty="0"/>
              <a:t>人，考试成绩为：</a:t>
            </a:r>
          </a:p>
          <a:p>
            <a:r>
              <a:rPr lang="zh-CN" altLang="en-US" sz="2400" dirty="0"/>
              <a:t>     </a:t>
            </a:r>
            <a:r>
              <a:rPr lang="en-US" altLang="zh-CN" sz="2400" dirty="0"/>
              <a:t>72    68    71    70    86</a:t>
            </a:r>
          </a:p>
          <a:p>
            <a:r>
              <a:rPr lang="en-US" altLang="zh-CN" sz="2400" dirty="0"/>
              <a:t>     69    70    82    72    75</a:t>
            </a:r>
          </a:p>
          <a:p>
            <a:r>
              <a:rPr lang="zh-CN" altLang="en-US" sz="2400" dirty="0"/>
              <a:t>如何评价上述数据？</a:t>
            </a:r>
          </a:p>
          <a:p>
            <a:pPr lvl="1">
              <a:spcBef>
                <a:spcPts val="1200"/>
              </a:spcBef>
            </a:pPr>
            <a:endParaRPr lang="en-US" altLang="zh-CN" sz="2000" b="0" dirty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6FC928A-B999-4FB6-AC3A-6BD0F7F70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491" y="3932287"/>
            <a:ext cx="2017713" cy="863600"/>
          </a:xfrm>
          <a:prstGeom prst="wedgeRoundRectCallout">
            <a:avLst>
              <a:gd name="adj1" fmla="val -51810"/>
              <a:gd name="adj2" fmla="val 8308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>
                <a:latin typeface="Tahoma" pitchFamily="34" charset="0"/>
              </a:rPr>
              <a:t>这些学生平均分</a:t>
            </a:r>
            <a:r>
              <a:rPr lang="en-US" altLang="zh-CN">
                <a:latin typeface="Tahoma" pitchFamily="34" charset="0"/>
              </a:rPr>
              <a:t>73.5</a:t>
            </a:r>
            <a:r>
              <a:rPr lang="zh-CN" altLang="en-US">
                <a:latin typeface="Tahoma" pitchFamily="34" charset="0"/>
              </a:rPr>
              <a:t>分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4D75D7D-385C-4E20-B2FB-447840189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16" y="4437112"/>
            <a:ext cx="3097213" cy="1366837"/>
          </a:xfrm>
          <a:prstGeom prst="wedgeEllipseCallout">
            <a:avLst>
              <a:gd name="adj1" fmla="val 46926"/>
              <a:gd name="adj2" fmla="val 5371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latin typeface="Tahoma" pitchFamily="34" charset="0"/>
              </a:rPr>
              <a:t>这次考试成绩大多数在７０分左右，个别在８０分以上</a:t>
            </a:r>
          </a:p>
          <a:p>
            <a:pPr algn="ctr"/>
            <a:endParaRPr lang="en-US" altLang="zh-CN">
              <a:latin typeface="Tahoma" pitchFamily="34" charset="0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B2EBE4B9-C7E4-4DDD-92DE-C71F92D07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8546" y="5179069"/>
            <a:ext cx="2016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ahoma" pitchFamily="34" charset="0"/>
              </a:rPr>
              <a:t>精确，但是不直观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163054-11E7-4743-A78B-158601AF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“</a:t>
            </a:r>
            <a:r>
              <a:rPr lang="zh-CN" altLang="en-US" sz="3600" dirty="0"/>
              <a:t>大多在</a:t>
            </a:r>
            <a:r>
              <a:rPr lang="en-US" altLang="zh-CN" sz="3600" dirty="0"/>
              <a:t>70</a:t>
            </a:r>
            <a:r>
              <a:rPr lang="zh-CN" altLang="en-US" sz="3600" dirty="0"/>
              <a:t>分左右，个别在</a:t>
            </a:r>
            <a:r>
              <a:rPr lang="en-US" altLang="zh-CN" sz="3600" dirty="0"/>
              <a:t>80</a:t>
            </a:r>
            <a:r>
              <a:rPr lang="zh-CN" altLang="en-US" sz="3600" dirty="0"/>
              <a:t>分以上”</a:t>
            </a:r>
            <a:endParaRPr lang="zh-CN" altLang="en-US" sz="3600" dirty="0">
              <a:ea typeface="黑体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072356"/>
            <a:ext cx="8229600" cy="4713287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zh-CN" dirty="0">
                <a:solidFill>
                  <a:srgbClr val="006600"/>
                </a:solidFill>
                <a:latin typeface="+mj-lt"/>
                <a:cs typeface="Times New Roman" pitchFamily="18" charset="0"/>
              </a:rPr>
              <a:t>“</a:t>
            </a:r>
            <a:r>
              <a:rPr lang="zh-CN" altLang="en-US" dirty="0">
                <a:solidFill>
                  <a:srgbClr val="006600"/>
                </a:solidFill>
                <a:latin typeface="+mj-lt"/>
                <a:cs typeface="Times New Roman" pitchFamily="18" charset="0"/>
              </a:rPr>
              <a:t>大多数”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latin typeface="+mj-lt"/>
                <a:cs typeface="Times New Roman" pitchFamily="18" charset="0"/>
              </a:rPr>
              <a:t>0.5/6+0.8/7+1/8+1/9+1/10</a:t>
            </a: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srgbClr val="006600"/>
                </a:solidFill>
                <a:latin typeface="+mj-lt"/>
                <a:cs typeface="Times New Roman" pitchFamily="18" charset="0"/>
              </a:rPr>
              <a:t>“70</a:t>
            </a:r>
            <a:r>
              <a:rPr lang="zh-CN" altLang="en-US" dirty="0">
                <a:solidFill>
                  <a:srgbClr val="006600"/>
                </a:solidFill>
                <a:latin typeface="+mj-lt"/>
                <a:cs typeface="Times New Roman" pitchFamily="18" charset="0"/>
              </a:rPr>
              <a:t>分左右”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latin typeface="+mj-lt"/>
                <a:cs typeface="Times New Roman" pitchFamily="18" charset="0"/>
              </a:rPr>
              <a:t>0.5/68+1/69+1/70+1/71+1/72+0.8/73+0.5/74+0.5/75</a:t>
            </a: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srgbClr val="006600"/>
                </a:solidFill>
                <a:latin typeface="+mj-lt"/>
                <a:cs typeface="Times New Roman" pitchFamily="18" charset="0"/>
              </a:rPr>
              <a:t>“</a:t>
            </a:r>
            <a:r>
              <a:rPr lang="zh-CN" altLang="en-US" dirty="0">
                <a:solidFill>
                  <a:srgbClr val="006600"/>
                </a:solidFill>
                <a:latin typeface="+mj-lt"/>
                <a:cs typeface="Times New Roman" pitchFamily="18" charset="0"/>
              </a:rPr>
              <a:t>个别”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latin typeface="+mj-lt"/>
                <a:cs typeface="Times New Roman" pitchFamily="18" charset="0"/>
              </a:rPr>
              <a:t>1/1+1/2+0.5/3</a:t>
            </a: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srgbClr val="006600"/>
                </a:solidFill>
                <a:latin typeface="+mj-lt"/>
                <a:cs typeface="Times New Roman" pitchFamily="18" charset="0"/>
              </a:rPr>
              <a:t>“80</a:t>
            </a:r>
            <a:r>
              <a:rPr lang="zh-CN" altLang="en-US" dirty="0">
                <a:solidFill>
                  <a:srgbClr val="006600"/>
                </a:solidFill>
                <a:latin typeface="+mj-lt"/>
                <a:cs typeface="Times New Roman" pitchFamily="18" charset="0"/>
              </a:rPr>
              <a:t>分以上”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latin typeface="+mj-lt"/>
                <a:cs typeface="Times New Roman" pitchFamily="18" charset="0"/>
              </a:rPr>
              <a:t>1/80+1/81+1/82+...+1/100</a:t>
            </a:r>
            <a:endParaRPr lang="en-US" altLang="zh-CN" b="0" dirty="0">
              <a:latin typeface="+mj-lt"/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C49B4A-B552-4F76-AD97-BAA93C6D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272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对分数问题的分析</a:t>
            </a:r>
            <a:endParaRPr lang="zh-CN" altLang="en-US" sz="4000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7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CN" altLang="en-US" dirty="0">
                <a:latin typeface="+mj-lt"/>
              </a:rPr>
              <a:t>首先，对</a:t>
            </a:r>
            <a:r>
              <a:rPr lang="en-US" altLang="zh-CN" dirty="0">
                <a:latin typeface="+mj-lt"/>
              </a:rPr>
              <a:t>10</a:t>
            </a:r>
            <a:r>
              <a:rPr lang="zh-CN" altLang="en-US" dirty="0">
                <a:latin typeface="+mj-lt"/>
              </a:rPr>
              <a:t>个分数求“</a:t>
            </a:r>
            <a:r>
              <a:rPr lang="en-US" altLang="zh-CN" dirty="0">
                <a:latin typeface="+mj-lt"/>
              </a:rPr>
              <a:t>70</a:t>
            </a:r>
            <a:r>
              <a:rPr lang="zh-CN" altLang="en-US" dirty="0">
                <a:latin typeface="+mj-lt"/>
              </a:rPr>
              <a:t>分左右”的隶属度：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1 + 0.5 + 1 + 1 + 0 + 1 + 1 + 0 + 1 + 0.5 = 7</a:t>
            </a:r>
          </a:p>
          <a:p>
            <a:pPr lvl="1">
              <a:spcBef>
                <a:spcPts val="1800"/>
              </a:spcBef>
            </a:pPr>
            <a:r>
              <a:rPr lang="zh-CN" altLang="en-US" dirty="0">
                <a:latin typeface="+mj-lt"/>
              </a:rPr>
              <a:t>表示约</a:t>
            </a:r>
            <a:r>
              <a:rPr lang="en-US" altLang="zh-CN" dirty="0">
                <a:latin typeface="+mj-lt"/>
              </a:rPr>
              <a:t>7</a:t>
            </a:r>
            <a:r>
              <a:rPr lang="zh-CN" altLang="en-US" dirty="0">
                <a:latin typeface="+mj-lt"/>
              </a:rPr>
              <a:t>个人次在</a:t>
            </a:r>
            <a:r>
              <a:rPr lang="en-US" altLang="zh-CN" dirty="0">
                <a:latin typeface="+mj-lt"/>
              </a:rPr>
              <a:t>70</a:t>
            </a:r>
            <a:r>
              <a:rPr lang="zh-CN" altLang="en-US" dirty="0">
                <a:latin typeface="+mj-lt"/>
              </a:rPr>
              <a:t>分左右。</a:t>
            </a:r>
          </a:p>
          <a:p>
            <a:pPr>
              <a:spcBef>
                <a:spcPts val="1800"/>
              </a:spcBef>
            </a:pPr>
            <a:r>
              <a:rPr lang="en-US" altLang="zh-CN" dirty="0">
                <a:latin typeface="+mj-lt"/>
              </a:rPr>
              <a:t>7</a:t>
            </a:r>
            <a:r>
              <a:rPr lang="zh-CN" altLang="en-US" dirty="0">
                <a:latin typeface="+mj-lt"/>
              </a:rPr>
              <a:t>对于”大多数”的隶属度是</a:t>
            </a:r>
            <a:r>
              <a:rPr lang="en-US" altLang="zh-CN" dirty="0">
                <a:latin typeface="+mj-lt"/>
              </a:rPr>
              <a:t>0.8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latin typeface="+mj-lt"/>
              </a:rPr>
              <a:t>T(“</a:t>
            </a:r>
            <a:r>
              <a:rPr lang="zh-CN" altLang="en-US" dirty="0">
                <a:latin typeface="+mj-lt"/>
              </a:rPr>
              <a:t>大多数”</a:t>
            </a:r>
            <a:r>
              <a:rPr lang="en-US" altLang="zh-CN" dirty="0">
                <a:latin typeface="+mj-lt"/>
              </a:rPr>
              <a:t>) </a:t>
            </a:r>
            <a:r>
              <a:rPr lang="en-US" altLang="zh-CN" dirty="0"/>
              <a:t>= 0.8</a:t>
            </a:r>
          </a:p>
          <a:p>
            <a:pPr>
              <a:spcBef>
                <a:spcPts val="1800"/>
              </a:spcBef>
            </a:pPr>
            <a:r>
              <a:rPr lang="en-US" altLang="zh-CN" dirty="0">
                <a:latin typeface="+mj-lt"/>
              </a:rPr>
              <a:t>80</a:t>
            </a:r>
            <a:r>
              <a:rPr lang="zh-CN" altLang="en-US" dirty="0">
                <a:latin typeface="+mj-lt"/>
              </a:rPr>
              <a:t>分以上有</a:t>
            </a:r>
            <a:r>
              <a:rPr lang="en-US" altLang="zh-CN" dirty="0">
                <a:latin typeface="+mj-lt"/>
              </a:rPr>
              <a:t>2</a:t>
            </a:r>
            <a:r>
              <a:rPr lang="zh-CN" altLang="en-US" dirty="0">
                <a:latin typeface="+mj-lt"/>
              </a:rPr>
              <a:t>人，</a:t>
            </a:r>
            <a:r>
              <a:rPr lang="en-US" altLang="zh-CN" dirty="0">
                <a:latin typeface="+mj-lt"/>
              </a:rPr>
              <a:t>2</a:t>
            </a:r>
            <a:r>
              <a:rPr lang="zh-CN" altLang="en-US" dirty="0">
                <a:latin typeface="+mj-lt"/>
              </a:rPr>
              <a:t>对于”个别”的隶属度为</a:t>
            </a:r>
            <a:r>
              <a:rPr lang="en-US" altLang="zh-CN" dirty="0">
                <a:latin typeface="+mj-lt"/>
              </a:rPr>
              <a:t>1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latin typeface="+mj-lt"/>
              </a:rPr>
              <a:t>T(“</a:t>
            </a:r>
            <a:r>
              <a:rPr lang="zh-CN" altLang="en-US" dirty="0">
                <a:latin typeface="+mj-lt"/>
              </a:rPr>
              <a:t>个别”</a:t>
            </a:r>
            <a:r>
              <a:rPr lang="en-US" altLang="zh-CN" dirty="0">
                <a:latin typeface="+mj-lt"/>
              </a:rPr>
              <a:t>) = 1</a:t>
            </a:r>
            <a:endParaRPr lang="en-US" altLang="zh-CN" sz="2400" b="0" dirty="0">
              <a:latin typeface="+mj-lt"/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D659FB-CCC1-42F2-A071-DE87D162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AE099A4F-A378-4A7D-8BBD-6C03123E9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152" y="488616"/>
            <a:ext cx="31321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72    68    71    70    86</a:t>
            </a:r>
          </a:p>
          <a:p>
            <a:r>
              <a:rPr lang="en-US" altLang="zh-CN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69    70    82    72    75</a:t>
            </a:r>
            <a:endParaRPr lang="en-US" altLang="zh-CN" dirty="0">
              <a:solidFill>
                <a:srgbClr val="0066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31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模糊关系的定义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435280" cy="4790157"/>
              </a:xfrm>
            </p:spPr>
            <p:txBody>
              <a:bodyPr/>
              <a:lstStyle/>
              <a:p>
                <a:pPr algn="just">
                  <a:lnSpc>
                    <a:spcPct val="105000"/>
                  </a:lnSpc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kumimoji="1" lang="zh-CN" altLang="en-US" sz="2400" dirty="0">
                    <a:solidFill>
                      <a:srgbClr val="C000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笛卡尔积：</a:t>
                </a:r>
                <a:r>
                  <a:rPr kumimoji="1" lang="zh-CN" altLang="en-US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设</a:t>
                </a:r>
                <a:r>
                  <a:rPr kumimoji="1" lang="en-US" altLang="zh-CN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</a:t>
                </a:r>
                <a:r>
                  <a:rPr kumimoji="1" lang="zh-CN" altLang="en-US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与</a:t>
                </a:r>
                <a:r>
                  <a:rPr kumimoji="1" lang="en-US" altLang="zh-CN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W</a:t>
                </a:r>
                <a:r>
                  <a:rPr kumimoji="1" lang="zh-CN" altLang="en-US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是两个普通集合，</a:t>
                </a:r>
                <a:r>
                  <a:rPr kumimoji="1" lang="en-US" altLang="zh-CN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</a:t>
                </a:r>
                <a:r>
                  <a:rPr kumimoji="1" lang="zh-CN" altLang="en-US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与</a:t>
                </a:r>
                <a:r>
                  <a:rPr kumimoji="1" lang="en-US" altLang="zh-CN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W</a:t>
                </a:r>
                <a:r>
                  <a:rPr kumimoji="1" lang="zh-CN" altLang="en-US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的笛卡尔乘积为</a:t>
                </a:r>
              </a:p>
              <a:p>
                <a:pPr marL="0" indent="0">
                  <a:lnSpc>
                    <a:spcPct val="105000"/>
                  </a:lnSpc>
                  <a:spcBef>
                    <a:spcPts val="600"/>
                  </a:spcBef>
                  <a:buNone/>
                </a:pPr>
                <a:r>
                  <a:rPr kumimoji="1" lang="zh-CN" altLang="en-US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             </a:t>
                </a:r>
                <a:r>
                  <a:rPr kumimoji="1" lang="en-US" altLang="zh-CN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V×W ={(</a:t>
                </a:r>
                <a:r>
                  <a:rPr kumimoji="1" lang="en-US" altLang="zh-CN" sz="2400" dirty="0" err="1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v,w</a:t>
                </a:r>
                <a:r>
                  <a:rPr kumimoji="1" lang="en-US" altLang="zh-CN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)∣</a:t>
                </a:r>
                <a:r>
                  <a:rPr kumimoji="1" lang="zh-CN" altLang="en-US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任意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zh-CN" altLang="en-US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，任意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1" lang="en-US" altLang="zh-CN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} </a:t>
                </a:r>
              </a:p>
              <a:p>
                <a:pPr>
                  <a:lnSpc>
                    <a:spcPct val="105000"/>
                  </a:lnSpc>
                  <a:spcBef>
                    <a:spcPts val="600"/>
                  </a:spcBef>
                </a:pPr>
                <a:endParaRPr kumimoji="1" lang="en-US" altLang="zh-CN" sz="2400" dirty="0">
                  <a:solidFill>
                    <a:srgbClr val="0000CC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endParaRPr>
              </a:p>
              <a:p>
                <a:pPr>
                  <a:lnSpc>
                    <a:spcPct val="105000"/>
                  </a:lnSpc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kumimoji="1" lang="zh-CN" altLang="en-US" sz="2400" dirty="0">
                    <a:solidFill>
                      <a:srgbClr val="C000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从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到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W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的关系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R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：</a:t>
                </a:r>
                <a:r>
                  <a:rPr kumimoji="1" lang="en-US" altLang="zh-CN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V×W</a:t>
                </a:r>
                <a:r>
                  <a:rPr kumimoji="1" lang="zh-CN" altLang="en-US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上的一个子集，即</a:t>
                </a:r>
                <a:r>
                  <a:rPr kumimoji="1" lang="en-US" altLang="zh-CN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R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kumimoji="1" lang="en-US" altLang="zh-CN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 V×W</a:t>
                </a:r>
              </a:p>
              <a:p>
                <a:pPr>
                  <a:lnSpc>
                    <a:spcPct val="105000"/>
                  </a:lnSpc>
                  <a:spcBef>
                    <a:spcPts val="600"/>
                  </a:spcBef>
                </a:pPr>
                <a:r>
                  <a:rPr kumimoji="1" lang="zh-CN" altLang="en-US" sz="2400" dirty="0"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记为 </a:t>
                </a:r>
              </a:p>
              <a:p>
                <a:pPr>
                  <a:lnSpc>
                    <a:spcPct val="105000"/>
                  </a:lnSpc>
                  <a:spcBef>
                    <a:spcPct val="15000"/>
                  </a:spcBef>
                </a:pPr>
                <a:endParaRPr kumimoji="1" lang="zh-CN" altLang="en-US" sz="2400" dirty="0">
                  <a:latin typeface="Times New Roman" pitchFamily="18" charset="0"/>
                  <a:ea typeface="幼圆" pitchFamily="49" charset="-122"/>
                  <a:cs typeface="Times New Roman" pitchFamily="18" charset="0"/>
                </a:endParaRPr>
              </a:p>
              <a:p>
                <a:pPr>
                  <a:lnSpc>
                    <a:spcPct val="105000"/>
                  </a:lnSpc>
                  <a:spcBef>
                    <a:spcPct val="15000"/>
                  </a:spcBef>
                </a:pPr>
                <a:r>
                  <a:rPr kumimoji="1" lang="zh-CN" altLang="en-US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对于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V×W</a:t>
                </a:r>
                <a:r>
                  <a:rPr kumimoji="1" lang="zh-CN" altLang="en-US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中的元素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(</a:t>
                </a:r>
                <a:r>
                  <a:rPr kumimoji="1" lang="en-US" altLang="zh-CN" sz="2400" dirty="0" err="1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v,w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)</a:t>
                </a:r>
                <a:r>
                  <a:rPr kumimoji="1" lang="zh-CN" altLang="en-US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，若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(</a:t>
                </a:r>
                <a:r>
                  <a:rPr kumimoji="1" lang="en-US" altLang="zh-CN" sz="2400" dirty="0" err="1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v,w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)∈R</a:t>
                </a:r>
                <a:r>
                  <a:rPr kumimoji="1" lang="zh-CN" altLang="en-US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，则称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</a:t>
                </a:r>
                <a:r>
                  <a:rPr kumimoji="1" lang="zh-CN" altLang="en-US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与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w</a:t>
                </a:r>
                <a:r>
                  <a:rPr kumimoji="1" lang="zh-CN" altLang="en-US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有关系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R</a:t>
                </a:r>
                <a:r>
                  <a:rPr kumimoji="1" lang="zh-CN" altLang="en-US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；</a:t>
                </a:r>
              </a:p>
              <a:p>
                <a:pPr>
                  <a:lnSpc>
                    <a:spcPct val="105000"/>
                  </a:lnSpc>
                  <a:spcBef>
                    <a:spcPct val="15000"/>
                  </a:spcBef>
                </a:pPr>
                <a:r>
                  <a:rPr kumimoji="1" lang="zh-CN" altLang="en-US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若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(</a:t>
                </a:r>
                <a:r>
                  <a:rPr kumimoji="1" lang="en-US" altLang="zh-CN" sz="2400" dirty="0" err="1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v,w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)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R</a:t>
                </a:r>
                <a:r>
                  <a:rPr kumimoji="1" lang="zh-CN" altLang="en-US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，则称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v</a:t>
                </a:r>
                <a:r>
                  <a:rPr kumimoji="1" lang="zh-CN" altLang="en-US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与</a:t>
                </a:r>
                <a:r>
                  <a:rPr kumimoji="1" lang="en-US" altLang="zh-CN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w</a:t>
                </a:r>
                <a:r>
                  <a:rPr kumimoji="1" lang="zh-CN" altLang="en-US" sz="2400" dirty="0">
                    <a:solidFill>
                      <a:srgbClr val="00B050"/>
                    </a:solidFill>
                    <a:latin typeface="Times New Roman" pitchFamily="18" charset="0"/>
                    <a:ea typeface="幼圆" pitchFamily="49" charset="-122"/>
                    <a:cs typeface="Times New Roman" pitchFamily="18" charset="0"/>
                  </a:rPr>
                  <a:t>没有关系。 </a:t>
                </a: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435280" cy="4790157"/>
              </a:xfrm>
              <a:blipFill>
                <a:blip r:embed="rId3"/>
                <a:stretch>
                  <a:fillRect l="-289" t="-1654" r="-4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03099F53-45C8-4279-A59F-B895BFCF8EF0}"/>
                  </a:ext>
                </a:extLst>
              </p:cNvPr>
              <p:cNvSpPr txBox="1"/>
              <p:nvPr/>
            </p:nvSpPr>
            <p:spPr bwMode="auto">
              <a:xfrm>
                <a:off x="3635896" y="3735846"/>
                <a:ext cx="1440160" cy="576061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 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 </m:t>
                          </m:r>
                        </m:e>
                      </m:groupCh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03099F53-45C8-4279-A59F-B895BFCF8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896" y="3735846"/>
                <a:ext cx="1440160" cy="5760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1249DD-B3A6-441A-907E-E2BB55A8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794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模糊关系的定义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199" y="1340768"/>
            <a:ext cx="8620125" cy="4790157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kumimoji="1" lang="zh-CN" altLang="en-US" sz="2400" dirty="0">
                <a:solidFill>
                  <a:srgbClr val="CC3300"/>
                </a:solidFill>
                <a:latin typeface="幼圆" pitchFamily="49" charset="-122"/>
                <a:ea typeface="幼圆" pitchFamily="49" charset="-122"/>
              </a:rPr>
              <a:t>定义</a:t>
            </a:r>
            <a:r>
              <a:rPr kumimoji="1" lang="en-US" altLang="zh-CN" sz="2400" dirty="0">
                <a:solidFill>
                  <a:srgbClr val="CC3300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设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F</a:t>
            </a:r>
            <a:r>
              <a:rPr kumimoji="1" lang="en-US" altLang="zh-CN" sz="2400" baseline="-25000" dirty="0">
                <a:latin typeface="幼圆" pitchFamily="49" charset="-122"/>
                <a:ea typeface="幼圆" pitchFamily="49" charset="-122"/>
              </a:rPr>
              <a:t>i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是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U</a:t>
            </a:r>
            <a:r>
              <a:rPr kumimoji="1" lang="en-US" altLang="zh-CN" sz="2400" baseline="-25000" dirty="0">
                <a:latin typeface="幼圆" pitchFamily="49" charset="-122"/>
                <a:ea typeface="幼圆" pitchFamily="49" charset="-122"/>
              </a:rPr>
              <a:t>i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(</a:t>
            </a:r>
            <a:r>
              <a:rPr kumimoji="1" lang="en-US" altLang="zh-CN" sz="2400" dirty="0" err="1">
                <a:latin typeface="幼圆" pitchFamily="49" charset="-122"/>
                <a:ea typeface="幼圆" pitchFamily="49" charset="-122"/>
              </a:rPr>
              <a:t>i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=1,2,…,n)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上的模糊集，则称</a:t>
            </a:r>
            <a:endParaRPr kumimoji="1" lang="en-US" altLang="zh-CN" sz="2400" dirty="0">
              <a:latin typeface="幼圆" pitchFamily="49" charset="-122"/>
              <a:ea typeface="幼圆" pitchFamily="49" charset="-122"/>
            </a:endParaRPr>
          </a:p>
          <a:p>
            <a:pPr>
              <a:spcBef>
                <a:spcPts val="1200"/>
              </a:spcBef>
            </a:pPr>
            <a:endParaRPr kumimoji="1" lang="en-US" altLang="zh-CN" sz="2400" b="0" dirty="0">
              <a:latin typeface="幼圆" pitchFamily="49" charset="-122"/>
              <a:ea typeface="幼圆" pitchFamily="49" charset="-122"/>
            </a:endParaRPr>
          </a:p>
          <a:p>
            <a:pPr>
              <a:spcBef>
                <a:spcPts val="1200"/>
              </a:spcBef>
            </a:pPr>
            <a:endParaRPr kumimoji="1" lang="en-US" altLang="zh-CN" sz="2400" b="0" dirty="0">
              <a:latin typeface="幼圆" pitchFamily="49" charset="-122"/>
              <a:ea typeface="幼圆" pitchFamily="49" charset="-12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kumimoji="1" lang="zh-CN" altLang="en-US" sz="24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   为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F</a:t>
            </a:r>
            <a:r>
              <a:rPr kumimoji="1" lang="en-US" altLang="zh-CN" sz="24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1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,F</a:t>
            </a:r>
            <a:r>
              <a:rPr kumimoji="1" lang="en-US" altLang="zh-CN" sz="24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,…,</a:t>
            </a:r>
            <a:r>
              <a:rPr kumimoji="1" lang="en-US" altLang="zh-CN" sz="2400" dirty="0" err="1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F</a:t>
            </a:r>
            <a:r>
              <a:rPr kumimoji="1" lang="en-US" altLang="zh-CN" sz="2400" baseline="-25000" dirty="0" err="1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n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的笛卡尔乘积，它是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U</a:t>
            </a:r>
            <a:r>
              <a:rPr kumimoji="1" lang="en-US" altLang="zh-CN" sz="24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1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×U</a:t>
            </a:r>
            <a:r>
              <a:rPr kumimoji="1" lang="en-US" altLang="zh-CN" sz="24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×…×U</a:t>
            </a:r>
            <a:r>
              <a:rPr kumimoji="1" lang="en-US" altLang="zh-CN" sz="24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n    </a:t>
            </a:r>
            <a:r>
              <a:rPr kumimoji="1" lang="zh-CN" altLang="en-US" sz="24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上的一个模糊集。</a:t>
            </a:r>
            <a:r>
              <a:rPr kumimoji="1" lang="zh-CN" altLang="en-US" sz="24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</a:t>
            </a:r>
          </a:p>
          <a:p>
            <a:pPr>
              <a:spcBef>
                <a:spcPts val="1200"/>
              </a:spcBef>
            </a:pPr>
            <a:endParaRPr lang="en-US" altLang="zh-CN" sz="24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定义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在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U</a:t>
            </a:r>
            <a:r>
              <a:rPr kumimoji="1" lang="en-US" altLang="zh-CN" sz="2400" baseline="-25000" dirty="0">
                <a:latin typeface="幼圆" pitchFamily="49" charset="-122"/>
                <a:ea typeface="幼圆" pitchFamily="49" charset="-122"/>
              </a:rPr>
              <a:t>1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×U</a:t>
            </a:r>
            <a:r>
              <a:rPr kumimoji="1" lang="en-US" altLang="zh-CN" sz="2400" baseline="-25000" dirty="0">
                <a:latin typeface="幼圆" pitchFamily="49" charset="-122"/>
                <a:ea typeface="幼圆" pitchFamily="49" charset="-122"/>
              </a:rPr>
              <a:t>2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×…×U</a:t>
            </a:r>
            <a:r>
              <a:rPr kumimoji="1" lang="en-US" altLang="zh-CN" sz="2400" baseline="-25000" dirty="0">
                <a:latin typeface="幼圆" pitchFamily="49" charset="-122"/>
                <a:ea typeface="幼圆" pitchFamily="49" charset="-122"/>
              </a:rPr>
              <a:t>n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上的一个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n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元模糊关系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R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是指以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U</a:t>
            </a:r>
            <a:r>
              <a:rPr kumimoji="1" lang="en-US" altLang="zh-CN" sz="2400" baseline="-25000" dirty="0">
                <a:latin typeface="幼圆" pitchFamily="49" charset="-122"/>
                <a:ea typeface="幼圆" pitchFamily="49" charset="-122"/>
              </a:rPr>
              <a:t>1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×U</a:t>
            </a:r>
            <a:r>
              <a:rPr kumimoji="1" lang="en-US" altLang="zh-CN" sz="2400" baseline="-25000" dirty="0">
                <a:latin typeface="幼圆" pitchFamily="49" charset="-122"/>
                <a:ea typeface="幼圆" pitchFamily="49" charset="-122"/>
              </a:rPr>
              <a:t>2</a:t>
            </a: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×…×U</a:t>
            </a:r>
            <a:r>
              <a:rPr kumimoji="1" lang="en-US" altLang="zh-CN" sz="2400" baseline="-25000" dirty="0">
                <a:latin typeface="幼圆" pitchFamily="49" charset="-122"/>
                <a:ea typeface="幼圆" pitchFamily="49" charset="-122"/>
              </a:rPr>
              <a:t>n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为论域的一个模糊集，记为 </a:t>
            </a:r>
            <a:endParaRPr lang="en-US" altLang="zh-CN" sz="24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lang="en-US" altLang="zh-CN" sz="24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lang="en-US" altLang="zh-CN" sz="28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lang="en-US" altLang="zh-CN" sz="28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lang="en-US" altLang="zh-CN" sz="2800" b="0" dirty="0">
              <a:latin typeface="Arial" pitchFamily="34" charset="0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708D8CE4-5ED4-423E-812E-95FD96B748BB}"/>
                  </a:ext>
                </a:extLst>
              </p:cNvPr>
              <p:cNvSpPr txBox="1"/>
              <p:nvPr/>
            </p:nvSpPr>
            <p:spPr bwMode="auto">
              <a:xfrm>
                <a:off x="939676" y="2017340"/>
                <a:ext cx="8024812" cy="763588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×⋯×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×⋯×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)∧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)∧⋯∧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))/(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708D8CE4-5ED4-423E-812E-95FD96B74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9676" y="2017340"/>
                <a:ext cx="8024812" cy="7635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D8F14FE5-1050-4BB4-B0BA-6F8C70D4BC90}"/>
                  </a:ext>
                </a:extLst>
              </p:cNvPr>
              <p:cNvSpPr txBox="1"/>
              <p:nvPr/>
            </p:nvSpPr>
            <p:spPr bwMode="auto">
              <a:xfrm>
                <a:off x="1907704" y="5398177"/>
                <a:ext cx="6192688" cy="76358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×⋯×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/(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D8F14FE5-1050-4BB4-B0BA-6F8C70D4B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7704" y="5398177"/>
                <a:ext cx="6192688" cy="763587"/>
              </a:xfrm>
              <a:prstGeom prst="rect">
                <a:avLst/>
              </a:prstGeom>
              <a:blipFill>
                <a:blip r:embed="rId4"/>
                <a:stretch>
                  <a:fillRect b="-15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A0D319-75E4-44A7-A3ED-D6D08E74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659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模糊关系的定义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199" y="1340768"/>
            <a:ext cx="8229601" cy="4790157"/>
          </a:xfrm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例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</a:t>
            </a:r>
            <a:r>
              <a:rPr kumimoji="1" lang="zh-CN" altLang="en-US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设有一组学生 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U={u</a:t>
            </a:r>
            <a:r>
              <a:rPr kumimoji="1" lang="en-US" altLang="zh-CN" sz="24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1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,u</a:t>
            </a:r>
            <a:r>
              <a:rPr kumimoji="1" lang="en-US" altLang="zh-CN" sz="24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}={</a:t>
            </a:r>
            <a:r>
              <a:rPr kumimoji="1" lang="zh-CN" altLang="en-US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秦学，郝玩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}</a:t>
            </a:r>
            <a:r>
              <a:rPr kumimoji="1" lang="zh-CN" altLang="en-US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，一些在计算机上的活动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V={v</a:t>
            </a:r>
            <a:r>
              <a:rPr kumimoji="1" lang="en-US" altLang="zh-CN" sz="24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1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,v</a:t>
            </a:r>
            <a:r>
              <a:rPr kumimoji="1" lang="en-US" altLang="zh-CN" sz="24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,v</a:t>
            </a:r>
            <a:r>
              <a:rPr kumimoji="1" lang="en-US" altLang="zh-CN" sz="24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3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}={</a:t>
            </a:r>
            <a:r>
              <a:rPr kumimoji="1" lang="zh-CN" altLang="en-US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编程，上网，玩游戏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并设每个学生对各种活动的爱好程度分别为                  </a:t>
            </a:r>
            <a:r>
              <a:rPr kumimoji="1" lang="en-US" altLang="zh-CN" sz="2400" dirty="0" err="1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i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=1,2</a:t>
            </a:r>
            <a:r>
              <a:rPr kumimoji="1" lang="zh-CN" altLang="en-US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；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j=1,2,3</a:t>
            </a:r>
            <a:r>
              <a:rPr kumimoji="1" lang="zh-CN" altLang="en-US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，即 </a:t>
            </a:r>
          </a:p>
          <a:p>
            <a:pPr>
              <a:spcBef>
                <a:spcPct val="50000"/>
              </a:spcBef>
            </a:pPr>
            <a:endParaRPr kumimoji="1" lang="zh-CN" altLang="en-US" sz="2400" dirty="0">
              <a:latin typeface="Times New Roman" pitchFamily="18" charset="0"/>
              <a:ea typeface="仿宋_GB2312" pitchFamily="49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endParaRPr kumimoji="1" lang="zh-CN" altLang="en-US" sz="2400" dirty="0">
              <a:latin typeface="Times New Roman" pitchFamily="18" charset="0"/>
              <a:ea typeface="仿宋_GB2312" pitchFamily="49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则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U×V</a:t>
            </a:r>
            <a:r>
              <a:rPr kumimoji="1" lang="zh-CN" altLang="en-US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上的模糊关系</a:t>
            </a:r>
            <a:r>
              <a:rPr kumimoji="1" lang="en-US" altLang="zh-CN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R</a:t>
            </a:r>
            <a:r>
              <a:rPr kumimoji="1" lang="zh-CN" altLang="en-US" sz="24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为 </a:t>
            </a:r>
          </a:p>
          <a:p>
            <a:pPr>
              <a:spcBef>
                <a:spcPct val="50000"/>
              </a:spcBef>
            </a:pPr>
            <a:endParaRPr kumimoji="1" lang="zh-CN" altLang="en-US" sz="2800" dirty="0">
              <a:solidFill>
                <a:srgbClr val="0000CC"/>
              </a:solidFill>
              <a:latin typeface="Times New Roman" pitchFamily="18" charset="0"/>
            </a:endParaRPr>
          </a:p>
          <a:p>
            <a:pPr>
              <a:spcBef>
                <a:spcPts val="1200"/>
              </a:spcBef>
            </a:pPr>
            <a:endParaRPr lang="en-US" altLang="zh-CN" sz="2800" b="0" dirty="0">
              <a:latin typeface="Arial" pitchFamily="34" charset="0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A4FE53C8-2954-4837-AA8A-66F4A0ACBDFF}"/>
                  </a:ext>
                </a:extLst>
              </p:cNvPr>
              <p:cNvSpPr txBox="1"/>
              <p:nvPr/>
            </p:nvSpPr>
            <p:spPr bwMode="auto">
              <a:xfrm>
                <a:off x="1275029" y="3337383"/>
                <a:ext cx="7391400" cy="7969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秦学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编程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)=0.9,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秦学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上网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)=0.6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秦学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玩游戏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郝玩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编程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)=0.2,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郝玩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上网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郝玩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玩游戏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)=0.8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A4FE53C8-2954-4837-AA8A-66F4A0ACB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5029" y="3337383"/>
                <a:ext cx="7391400" cy="796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71446178-49CB-4685-B226-DEA762D76279}"/>
                  </a:ext>
                </a:extLst>
              </p:cNvPr>
              <p:cNvSpPr txBox="1"/>
              <p:nvPr/>
            </p:nvSpPr>
            <p:spPr bwMode="auto">
              <a:xfrm>
                <a:off x="1240726" y="5013176"/>
                <a:ext cx="3168650" cy="7715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71446178-49CB-4685-B226-DEA762D76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40726" y="5013176"/>
                <a:ext cx="3168650" cy="7715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8526AB-139A-421E-B45D-A8894357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21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7092A6A-9BD7-49A4-8E56-E436C0724212}"/>
                  </a:ext>
                </a:extLst>
              </p:cNvPr>
              <p:cNvSpPr txBox="1"/>
              <p:nvPr/>
            </p:nvSpPr>
            <p:spPr>
              <a:xfrm>
                <a:off x="6932856" y="2281051"/>
                <a:ext cx="1374287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7092A6A-9BD7-49A4-8E56-E436C0724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856" y="2281051"/>
                <a:ext cx="1374287" cy="399084"/>
              </a:xfrm>
              <a:prstGeom prst="rect">
                <a:avLst/>
              </a:prstGeom>
              <a:blipFill>
                <a:blip r:embed="rId5"/>
                <a:stretch>
                  <a:fillRect l="-3982" r="-7080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295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模糊关系的合成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199" y="1340768"/>
            <a:ext cx="8229601" cy="4790157"/>
          </a:xfrm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CC0066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定义</a:t>
            </a:r>
            <a:r>
              <a:rPr kumimoji="1" lang="en-US" altLang="zh-CN" sz="2800" dirty="0">
                <a:solidFill>
                  <a:srgbClr val="0000CC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设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R</a:t>
            </a:r>
            <a:r>
              <a:rPr kumimoji="1" lang="en-US" altLang="zh-CN" sz="28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1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与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R</a:t>
            </a:r>
            <a:r>
              <a:rPr kumimoji="1" lang="en-US" altLang="zh-CN" sz="28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2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分别是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U×V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与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V×W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上的两个模糊关系，则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R</a:t>
            </a:r>
            <a:r>
              <a:rPr kumimoji="1" lang="en-US" altLang="zh-CN" sz="28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1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与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R</a:t>
            </a:r>
            <a:r>
              <a:rPr kumimoji="1" lang="en-US" altLang="zh-CN" sz="28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2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的合成是从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U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到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W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的一个模糊关系，记为   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R</a:t>
            </a:r>
            <a:r>
              <a:rPr kumimoji="1" lang="en-US" altLang="zh-CN" sz="28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1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οR</a:t>
            </a:r>
            <a:r>
              <a:rPr kumimoji="1" lang="en-US" altLang="zh-CN" sz="280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2</a:t>
            </a:r>
            <a:r>
              <a:rPr kumimoji="1" lang="en-US" altLang="zh-CN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</a:t>
            </a: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。其隶属函数为 </a:t>
            </a:r>
          </a:p>
          <a:p>
            <a:pPr algn="just">
              <a:lnSpc>
                <a:spcPct val="110000"/>
              </a:lnSpc>
            </a:pPr>
            <a:endParaRPr kumimoji="1" lang="zh-CN" altLang="en-US" sz="2800" dirty="0">
              <a:latin typeface="Times New Roman" pitchFamily="18" charset="0"/>
              <a:ea typeface="幼圆" pitchFamily="49" charset="-122"/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endParaRPr kumimoji="1" lang="zh-CN" altLang="en-US" sz="2800" dirty="0">
              <a:latin typeface="Times New Roman" pitchFamily="18" charset="0"/>
              <a:ea typeface="幼圆" pitchFamily="49" charset="-122"/>
              <a:cs typeface="Times New Roman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kumimoji="1" lang="zh-CN" altLang="en-US" sz="2800" dirty="0"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   其中，∧和∨分别表示取最小和取最大。</a:t>
            </a:r>
          </a:p>
          <a:p>
            <a:pPr>
              <a:spcBef>
                <a:spcPts val="1200"/>
              </a:spcBef>
            </a:pPr>
            <a:endParaRPr lang="en-US" altLang="zh-CN" sz="2800" b="0" dirty="0">
              <a:latin typeface="Arial" pitchFamily="34" charset="0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F18D7DAA-67CC-4B74-AA21-5409D07E0EAA}"/>
                  </a:ext>
                </a:extLst>
              </p:cNvPr>
              <p:cNvSpPr txBox="1"/>
              <p:nvPr/>
            </p:nvSpPr>
            <p:spPr bwMode="auto">
              <a:xfrm>
                <a:off x="1619672" y="3190081"/>
                <a:ext cx="5688012" cy="584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)=∨{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)∧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F18D7DAA-67CC-4B74-AA21-5409D07E0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672" y="3190081"/>
                <a:ext cx="5688012" cy="584200"/>
              </a:xfrm>
              <a:prstGeom prst="rect">
                <a:avLst/>
              </a:prstGeom>
              <a:blipFill>
                <a:blip r:embed="rId3"/>
                <a:stretch>
                  <a:fillRect l="-3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04C882F-4338-49E9-B51C-7BA76EAA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080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模糊关系合成举例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199" y="1340768"/>
            <a:ext cx="8229601" cy="4790157"/>
          </a:xfrm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例</a:t>
            </a:r>
            <a:r>
              <a:rPr kumimoji="1" lang="en-US" altLang="zh-CN" sz="28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</a:t>
            </a: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设有：</a:t>
            </a:r>
            <a:endParaRPr kumimoji="1" lang="en-US" altLang="zh-CN" sz="2800" dirty="0">
              <a:latin typeface="Times New Roman" pitchFamily="18" charset="0"/>
              <a:ea typeface="仿宋_GB2312" pitchFamily="49" charset="-122"/>
              <a:cs typeface="Times New Roman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一组学生 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U={u</a:t>
            </a:r>
            <a:r>
              <a:rPr kumimoji="1" lang="en-US" altLang="zh-CN" sz="28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1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,u</a:t>
            </a:r>
            <a:r>
              <a:rPr kumimoji="1" lang="en-US" altLang="zh-CN" sz="28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2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}={</a:t>
            </a: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秦学，郝玩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}</a:t>
            </a: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，</a:t>
            </a:r>
            <a:endParaRPr kumimoji="1" lang="en-US" altLang="zh-CN" sz="2800" dirty="0">
              <a:latin typeface="Times New Roman" pitchFamily="18" charset="0"/>
              <a:ea typeface="仿宋_GB2312" pitchFamily="49" charset="-122"/>
              <a:cs typeface="Times New Roman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一些在计算机上的活动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V={v</a:t>
            </a:r>
            <a:r>
              <a:rPr kumimoji="1" lang="en-US" altLang="zh-CN" sz="28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1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,v</a:t>
            </a:r>
            <a:r>
              <a:rPr kumimoji="1" lang="en-US" altLang="zh-CN" sz="28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2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,v</a:t>
            </a:r>
            <a:r>
              <a:rPr kumimoji="1" lang="en-US" altLang="zh-CN" sz="28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3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}={</a:t>
            </a: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编程，上网，玩游戏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}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一些对学生的评价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G ={g</a:t>
            </a:r>
            <a:r>
              <a:rPr kumimoji="1" lang="en-US" altLang="zh-CN" sz="28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1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,g</a:t>
            </a:r>
            <a:r>
              <a:rPr kumimoji="1" lang="en-US" altLang="zh-CN" sz="2800" baseline="-250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2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}={</a:t>
            </a: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好，差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}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若已知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U</a:t>
            </a: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和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V</a:t>
            </a: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的模糊关系，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V</a:t>
            </a: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和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G</a:t>
            </a: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的模糊关系，</a:t>
            </a:r>
            <a:endParaRPr kumimoji="1" lang="en-US" altLang="zh-CN" sz="2800" dirty="0">
              <a:latin typeface="Times New Roman" pitchFamily="18" charset="0"/>
              <a:ea typeface="仿宋_GB2312" pitchFamily="49" charset="-122"/>
              <a:cs typeface="Times New Roman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那么，我们就可以合成出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U</a:t>
            </a: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和</a:t>
            </a:r>
            <a:r>
              <a:rPr kumimoji="1" lang="en-US" altLang="zh-CN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G</a:t>
            </a:r>
            <a:r>
              <a:rPr kumimoji="1" lang="zh-CN" altLang="en-US" sz="2800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的模糊关系</a:t>
            </a:r>
            <a:endParaRPr kumimoji="1" lang="en-US" altLang="zh-CN" sz="2800" dirty="0">
              <a:latin typeface="Times New Roman" pitchFamily="18" charset="0"/>
              <a:ea typeface="仿宋_GB2312" pitchFamily="49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endParaRPr kumimoji="1" lang="zh-CN" altLang="en-US" sz="2800" dirty="0">
              <a:solidFill>
                <a:srgbClr val="0000CC"/>
              </a:solidFill>
              <a:latin typeface="Times New Roman" pitchFamily="18" charset="0"/>
            </a:endParaRPr>
          </a:p>
          <a:p>
            <a:pPr>
              <a:spcBef>
                <a:spcPts val="1200"/>
              </a:spcBef>
            </a:pPr>
            <a:endParaRPr lang="en-US" altLang="zh-CN" sz="2800" b="0" dirty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9D8EC1E-2AAD-45F3-9A4B-7ADCA19A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10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模糊关系的合成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199" y="1340768"/>
            <a:ext cx="8229601" cy="4790157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B050"/>
                </a:solidFill>
                <a:latin typeface="仿宋_GB2312" pitchFamily="49" charset="-122"/>
                <a:ea typeface="仿宋_GB2312" pitchFamily="49" charset="-122"/>
              </a:rPr>
              <a:t>例</a:t>
            </a:r>
            <a:r>
              <a:rPr kumimoji="1" lang="en-US" altLang="zh-CN" sz="2800" dirty="0">
                <a:solidFill>
                  <a:srgbClr val="00B050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1" lang="zh-CN" altLang="en-US" sz="2800" dirty="0">
                <a:latin typeface="仿宋_GB2312" pitchFamily="49" charset="-122"/>
                <a:ea typeface="仿宋_GB2312" pitchFamily="49" charset="-122"/>
              </a:rPr>
              <a:t>设有以下两个模糊关系 </a:t>
            </a:r>
            <a:endParaRPr kumimoji="1" lang="en-US" altLang="zh-CN" sz="2800" dirty="0">
              <a:latin typeface="仿宋_GB2312" pitchFamily="49" charset="-122"/>
              <a:ea typeface="仿宋_GB2312" pitchFamily="49" charset="-122"/>
            </a:endParaRPr>
          </a:p>
          <a:p>
            <a:pPr>
              <a:spcBef>
                <a:spcPct val="50000"/>
              </a:spcBef>
            </a:pPr>
            <a:endParaRPr kumimoji="1" lang="en-US" altLang="zh-CN" sz="2800" dirty="0">
              <a:latin typeface="仿宋_GB2312" pitchFamily="49" charset="-122"/>
              <a:ea typeface="仿宋_GB2312" pitchFamily="49" charset="-122"/>
            </a:endParaRPr>
          </a:p>
          <a:p>
            <a:pPr>
              <a:spcBef>
                <a:spcPct val="50000"/>
              </a:spcBef>
            </a:pPr>
            <a:endParaRPr kumimoji="1" lang="en-US" altLang="zh-CN" sz="2800" dirty="0">
              <a:latin typeface="仿宋_GB2312" pitchFamily="49" charset="-122"/>
              <a:ea typeface="仿宋_GB2312" pitchFamily="49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仿宋_GB2312" pitchFamily="49" charset="-122"/>
                <a:ea typeface="仿宋_GB2312" pitchFamily="49" charset="-122"/>
              </a:rPr>
              <a:t>则</a:t>
            </a:r>
            <a:r>
              <a:rPr kumimoji="1" lang="en-US" altLang="zh-CN" sz="2800" dirty="0">
                <a:latin typeface="仿宋_GB2312" pitchFamily="49" charset="-122"/>
                <a:ea typeface="仿宋_GB2312" pitchFamily="49" charset="-122"/>
              </a:rPr>
              <a:t>R</a:t>
            </a:r>
            <a:r>
              <a:rPr kumimoji="1" lang="en-US" altLang="zh-CN" sz="2800" baseline="-25000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1" lang="zh-CN" altLang="en-US" sz="2800" dirty="0">
                <a:latin typeface="仿宋_GB2312" pitchFamily="49" charset="-122"/>
                <a:ea typeface="仿宋_GB2312" pitchFamily="49" charset="-122"/>
              </a:rPr>
              <a:t>与</a:t>
            </a:r>
            <a:r>
              <a:rPr kumimoji="1" lang="en-US" altLang="zh-CN" sz="2800" dirty="0">
                <a:latin typeface="仿宋_GB2312" pitchFamily="49" charset="-122"/>
                <a:ea typeface="仿宋_GB2312" pitchFamily="49" charset="-122"/>
              </a:rPr>
              <a:t>R</a:t>
            </a:r>
            <a:r>
              <a:rPr kumimoji="1" lang="en-US" altLang="zh-CN" sz="2800" baseline="-25000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1" lang="zh-CN" altLang="en-US" sz="2800" dirty="0">
                <a:latin typeface="仿宋_GB2312" pitchFamily="49" charset="-122"/>
                <a:ea typeface="仿宋_GB2312" pitchFamily="49" charset="-122"/>
              </a:rPr>
              <a:t>的合成是 </a:t>
            </a:r>
          </a:p>
          <a:p>
            <a:pPr>
              <a:spcBef>
                <a:spcPct val="50000"/>
              </a:spcBef>
            </a:pPr>
            <a:endParaRPr kumimoji="1" lang="en-US" altLang="zh-CN" sz="2400" dirty="0">
              <a:latin typeface="仿宋_GB2312" pitchFamily="49" charset="-122"/>
              <a:ea typeface="仿宋_GB2312" pitchFamily="49" charset="-122"/>
            </a:endParaRPr>
          </a:p>
          <a:p>
            <a:pPr>
              <a:spcBef>
                <a:spcPct val="50000"/>
              </a:spcBef>
            </a:pPr>
            <a:endParaRPr kumimoji="1" lang="en-US" altLang="zh-CN" sz="2400" dirty="0">
              <a:latin typeface="仿宋_GB2312" pitchFamily="49" charset="-122"/>
              <a:ea typeface="仿宋_GB2312" pitchFamily="49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把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R</a:t>
            </a:r>
            <a:r>
              <a:rPr kumimoji="1" lang="en-US" altLang="zh-CN" sz="2400" baseline="-250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1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的第</a:t>
            </a:r>
            <a:r>
              <a:rPr kumimoji="1" lang="en-US" altLang="zh-CN" sz="2400" dirty="0" err="1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i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行元素分别与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R</a:t>
            </a:r>
            <a:r>
              <a:rPr kumimoji="1" lang="en-US" altLang="zh-CN" sz="2400" baseline="-250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2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的第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j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列的对应元素相比较，两个数中取最小者，然后再在所得的一组最小数中取最大的一个，并以此数作为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R</a:t>
            </a:r>
            <a:r>
              <a:rPr kumimoji="1" lang="en-US" altLang="zh-CN" sz="2400" baseline="-250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1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οR</a:t>
            </a:r>
            <a:r>
              <a:rPr kumimoji="1" lang="en-US" altLang="zh-CN" sz="2400" baseline="-250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2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的元素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R(</a:t>
            </a:r>
            <a:r>
              <a:rPr kumimoji="1" lang="en-US" altLang="zh-CN" sz="2400" dirty="0" err="1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i,j</a:t>
            </a:r>
            <a:r>
              <a:rPr kumimoji="1" lang="en-US" altLang="zh-CN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)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。</a:t>
            </a:r>
          </a:p>
          <a:p>
            <a:pPr>
              <a:spcBef>
                <a:spcPct val="50000"/>
              </a:spcBef>
            </a:pPr>
            <a:endParaRPr kumimoji="1" lang="en-US" altLang="zh-CN" sz="2400" dirty="0">
              <a:latin typeface="仿宋_GB2312" pitchFamily="49" charset="-122"/>
              <a:ea typeface="仿宋_GB2312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F6A3CC72-EFD2-43FB-B663-1E5A467A75D7}"/>
                  </a:ext>
                </a:extLst>
              </p:cNvPr>
              <p:cNvSpPr txBox="1"/>
              <p:nvPr/>
            </p:nvSpPr>
            <p:spPr bwMode="auto">
              <a:xfrm>
                <a:off x="1475656" y="2036653"/>
                <a:ext cx="4932548" cy="887879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0.7</m:t>
                                      </m:r>
                                    </m:e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0.2</m:t>
                                      </m:r>
                                    </m:e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0.5</m:t>
                                      </m:r>
                                    </m:e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F6A3CC72-EFD2-43FB-B663-1E5A467A7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5656" y="2036653"/>
                <a:ext cx="4932548" cy="887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939DCB68-DAB4-423C-9043-3BA95829CD51}"/>
                  </a:ext>
                </a:extLst>
              </p:cNvPr>
              <p:cNvSpPr txBox="1"/>
              <p:nvPr/>
            </p:nvSpPr>
            <p:spPr bwMode="auto">
              <a:xfrm>
                <a:off x="2159732" y="3969060"/>
                <a:ext cx="4248472" cy="9032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939DCB68-DAB4-423C-9043-3BA95829C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9732" y="3969060"/>
                <a:ext cx="4248472" cy="9032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1">
            <a:extLst>
              <a:ext uri="{FF2B5EF4-FFF2-40B4-BE49-F238E27FC236}">
                <a16:creationId xmlns:a16="http://schemas.microsoft.com/office/drawing/2014/main" id="{C26A28E4-A84E-409D-977D-81206BF78A97}"/>
              </a:ext>
            </a:extLst>
          </p:cNvPr>
          <p:cNvSpPr txBox="1"/>
          <p:nvPr/>
        </p:nvSpPr>
        <p:spPr>
          <a:xfrm>
            <a:off x="6206519" y="4005064"/>
            <a:ext cx="2478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3333FF"/>
                </a:solidFill>
                <a:latin typeface="方正卡通简体" pitchFamily="65" charset="-122"/>
                <a:ea typeface="方正卡通简体" pitchFamily="65" charset="-122"/>
              </a:rPr>
              <a:t>类比矩阵乘法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C65D14-3B03-4A36-9799-DABDED11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08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逻辑研究的内容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199" y="1340768"/>
            <a:ext cx="8229601" cy="479015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研究形式化定义的</a:t>
            </a: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sentences</a:t>
            </a: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之间的关系</a:t>
            </a:r>
          </a:p>
          <a:p>
            <a:pPr marL="0" indent="0">
              <a:spcBef>
                <a:spcPts val="600"/>
              </a:spcBef>
              <a:buNone/>
            </a:pPr>
            <a:endParaRPr lang="zh-CN" altLang="en-US" sz="24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两个角度：</a:t>
            </a:r>
          </a:p>
          <a:p>
            <a:pPr>
              <a:spcBef>
                <a:spcPts val="600"/>
              </a:spcBef>
            </a:pP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语义：</a:t>
            </a: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entailment </a:t>
            </a: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蕴含，逻辑推导</a:t>
            </a:r>
          </a:p>
          <a:p>
            <a:pPr>
              <a:spcBef>
                <a:spcPts val="600"/>
              </a:spcBef>
            </a:pP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语法：</a:t>
            </a:r>
            <a:r>
              <a:rPr lang="en-US" altLang="zh-CN" sz="2400" b="0" dirty="0">
                <a:latin typeface="Arial" pitchFamily="34" charset="0"/>
                <a:ea typeface="黑体" pitchFamily="49" charset="-122"/>
              </a:rPr>
              <a:t>inference </a:t>
            </a:r>
            <a:r>
              <a:rPr lang="zh-CN" altLang="en-US" sz="2400" b="0" dirty="0">
                <a:latin typeface="Arial" pitchFamily="34" charset="0"/>
                <a:ea typeface="黑体" pitchFamily="49" charset="-122"/>
              </a:rPr>
              <a:t>演绎，形式推演</a:t>
            </a:r>
          </a:p>
        </p:txBody>
      </p:sp>
      <p:sp>
        <p:nvSpPr>
          <p:cNvPr id="17" name="椭圆 16" descr="dd">
            <a:extLst>
              <a:ext uri="{FF2B5EF4-FFF2-40B4-BE49-F238E27FC236}">
                <a16:creationId xmlns:a16="http://schemas.microsoft.com/office/drawing/2014/main" id="{86284EE7-5ECE-400B-A77B-43A51DAF28E6}"/>
              </a:ext>
            </a:extLst>
          </p:cNvPr>
          <p:cNvSpPr/>
          <p:nvPr/>
        </p:nvSpPr>
        <p:spPr>
          <a:xfrm>
            <a:off x="2915816" y="3717032"/>
            <a:ext cx="2468880" cy="1265917"/>
          </a:xfrm>
          <a:prstGeom prst="ellipse">
            <a:avLst/>
          </a:prstGeom>
          <a:noFill/>
          <a:ln w="25400" cap="flat">
            <a:solidFill>
              <a:srgbClr val="002E7A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90" tIns="34290" rIns="34290" bIns="34290" numCol="1" spcCol="38100" rtlCol="0" anchor="ctr">
            <a:spAutoFit/>
          </a:bodyPr>
          <a:lstStyle/>
          <a:p>
            <a:pPr algn="ctr" defTabSz="457200" fontAlgn="auto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zh-CN" altLang="en-US" sz="162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ea typeface="+mn-ea"/>
                <a:sym typeface="Lucida Bright"/>
              </a:rPr>
              <a:t>知识库</a:t>
            </a:r>
            <a:endParaRPr lang="en-US" altLang="zh-CN" sz="1620" kern="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Lucida Bright"/>
              <a:ea typeface="+mn-ea"/>
              <a:sym typeface="Lucida Bright"/>
            </a:endParaRPr>
          </a:p>
          <a:p>
            <a:pPr algn="ctr" defTabSz="457200" fontAlgn="auto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zh-CN" altLang="en-US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（</a:t>
            </a:r>
            <a:r>
              <a:rPr lang="en-US" altLang="zh-CN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sentences</a:t>
            </a:r>
            <a:r>
              <a:rPr lang="zh-CN" altLang="en-US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的集合，每个</a:t>
            </a:r>
            <a:r>
              <a:rPr lang="en-US" altLang="zh-CN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sentence</a:t>
            </a:r>
            <a:r>
              <a:rPr lang="zh-CN" altLang="en-US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符合</a:t>
            </a:r>
            <a:endParaRPr lang="en-US" altLang="zh-CN" sz="1260" kern="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Lucida Bright"/>
              <a:sym typeface="Lucida Bright"/>
            </a:endParaRPr>
          </a:p>
          <a:p>
            <a:pPr algn="ctr" defTabSz="457200" fontAlgn="auto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zh-CN" altLang="en-US" sz="1260" kern="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形式逻辑规定的语法</a:t>
            </a:r>
            <a:r>
              <a:rPr lang="zh-CN" altLang="en-US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）</a:t>
            </a:r>
            <a:endParaRPr lang="zh-CN" altLang="en-US" sz="1260" kern="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Lucida Bright"/>
              <a:ea typeface="+mn-ea"/>
              <a:sym typeface="Lucida Bright"/>
            </a:endParaRPr>
          </a:p>
        </p:txBody>
      </p:sp>
      <p:sp>
        <p:nvSpPr>
          <p:cNvPr id="18" name="椭圆 17" descr="dd">
            <a:extLst>
              <a:ext uri="{FF2B5EF4-FFF2-40B4-BE49-F238E27FC236}">
                <a16:creationId xmlns:a16="http://schemas.microsoft.com/office/drawing/2014/main" id="{CCB2A397-7CF9-41F7-90B2-4218E1E90ABC}"/>
              </a:ext>
            </a:extLst>
          </p:cNvPr>
          <p:cNvSpPr/>
          <p:nvPr/>
        </p:nvSpPr>
        <p:spPr>
          <a:xfrm>
            <a:off x="852488" y="5735196"/>
            <a:ext cx="2320747" cy="993258"/>
          </a:xfrm>
          <a:prstGeom prst="ellipse">
            <a:avLst/>
          </a:prstGeom>
          <a:noFill/>
          <a:ln w="25400" cap="flat">
            <a:solidFill>
              <a:srgbClr val="002E7A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90" tIns="34290" rIns="34290" bIns="34290" numCol="1" spcCol="38100" rtlCol="0" anchor="ctr">
            <a:spAutoFit/>
          </a:bodyPr>
          <a:lstStyle/>
          <a:p>
            <a:pPr algn="ctr" defTabSz="457200" fontAlgn="auto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zh-CN" altLang="en-US" sz="162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ea typeface="+mn-ea"/>
                <a:sym typeface="Lucida Bright"/>
              </a:rPr>
              <a:t>新的知识库</a:t>
            </a:r>
            <a:endParaRPr lang="en-US" altLang="zh-CN" sz="1620" kern="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Lucida Bright"/>
              <a:ea typeface="+mn-ea"/>
              <a:sym typeface="Lucida Bright"/>
            </a:endParaRPr>
          </a:p>
          <a:p>
            <a:pPr algn="ctr" defTabSz="457200" fontAlgn="auto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zh-CN" altLang="en-US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（</a:t>
            </a:r>
            <a:r>
              <a:rPr lang="en-US" altLang="zh-CN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sentences</a:t>
            </a:r>
            <a:r>
              <a:rPr lang="zh-CN" altLang="en-US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的集合，</a:t>
            </a:r>
            <a:r>
              <a:rPr lang="zh-CN" altLang="en-US" sz="1260" kern="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语义上蕴含</a:t>
            </a:r>
            <a:r>
              <a:rPr lang="zh-CN" altLang="en-US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）</a:t>
            </a:r>
            <a:endParaRPr lang="zh-CN" altLang="en-US" sz="1260" kern="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Lucida Bright"/>
              <a:ea typeface="+mn-ea"/>
              <a:sym typeface="Lucida Bright"/>
            </a:endParaRPr>
          </a:p>
        </p:txBody>
      </p:sp>
      <p:sp>
        <p:nvSpPr>
          <p:cNvPr id="19" name="椭圆 18" descr="dd">
            <a:extLst>
              <a:ext uri="{FF2B5EF4-FFF2-40B4-BE49-F238E27FC236}">
                <a16:creationId xmlns:a16="http://schemas.microsoft.com/office/drawing/2014/main" id="{599C0363-2E99-4126-8DD4-B53A9E2EF9BC}"/>
              </a:ext>
            </a:extLst>
          </p:cNvPr>
          <p:cNvSpPr/>
          <p:nvPr/>
        </p:nvSpPr>
        <p:spPr>
          <a:xfrm>
            <a:off x="5044539" y="5735684"/>
            <a:ext cx="2320747" cy="993258"/>
          </a:xfrm>
          <a:prstGeom prst="ellipse">
            <a:avLst/>
          </a:prstGeom>
          <a:noFill/>
          <a:ln w="25400" cap="flat">
            <a:solidFill>
              <a:srgbClr val="002E7A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90" tIns="34290" rIns="34290" bIns="34290" numCol="1" spcCol="38100" rtlCol="0" anchor="ctr">
            <a:spAutoFit/>
          </a:bodyPr>
          <a:lstStyle/>
          <a:p>
            <a:pPr algn="ctr" defTabSz="457200" fontAlgn="auto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zh-CN" altLang="en-US" sz="162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ea typeface="+mn-ea"/>
                <a:sym typeface="Lucida Bright"/>
              </a:rPr>
              <a:t>新的知识库</a:t>
            </a:r>
            <a:endParaRPr lang="en-US" altLang="zh-CN" sz="1620" kern="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Lucida Bright"/>
              <a:ea typeface="+mn-ea"/>
              <a:sym typeface="Lucida Bright"/>
            </a:endParaRPr>
          </a:p>
          <a:p>
            <a:pPr algn="ctr" defTabSz="457200" fontAlgn="auto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zh-CN" altLang="en-US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（</a:t>
            </a:r>
            <a:r>
              <a:rPr lang="en-US" altLang="zh-CN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sentences</a:t>
            </a:r>
            <a:r>
              <a:rPr lang="zh-CN" altLang="en-US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的集合，</a:t>
            </a:r>
            <a:r>
              <a:rPr lang="zh-CN" altLang="en-US" sz="1260" kern="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语法上推演</a:t>
            </a:r>
            <a:r>
              <a:rPr lang="zh-CN" altLang="en-US" sz="1260" kern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Lucida Bright"/>
                <a:sym typeface="Lucida Bright"/>
              </a:rPr>
              <a:t>）</a:t>
            </a:r>
            <a:endParaRPr lang="zh-CN" altLang="en-US" sz="1260" kern="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Lucida Bright"/>
              <a:ea typeface="+mn-ea"/>
              <a:sym typeface="Lucida Bright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787771A-136E-455E-98B9-6B9E9B3C3A2D}"/>
              </a:ext>
            </a:extLst>
          </p:cNvPr>
          <p:cNvCxnSpPr>
            <a:cxnSpLocks/>
            <a:stCxn id="17" idx="3"/>
            <a:endCxn id="18" idx="0"/>
          </p:cNvCxnSpPr>
          <p:nvPr/>
        </p:nvCxnSpPr>
        <p:spPr>
          <a:xfrm flipH="1">
            <a:off x="2012862" y="4797560"/>
            <a:ext cx="1264513" cy="93763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FF3B8F7-2E6B-421F-BBA0-533DC6C08B7D}"/>
              </a:ext>
            </a:extLst>
          </p:cNvPr>
          <p:cNvCxnSpPr>
            <a:cxnSpLocks/>
            <a:stCxn id="17" idx="5"/>
            <a:endCxn id="19" idx="0"/>
          </p:cNvCxnSpPr>
          <p:nvPr/>
        </p:nvCxnSpPr>
        <p:spPr>
          <a:xfrm>
            <a:off x="5023137" y="4797560"/>
            <a:ext cx="1181776" cy="93812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63DBA3B-0B5A-403F-934E-809C5AA7CBA1}"/>
                  </a:ext>
                </a:extLst>
              </p:cNvPr>
              <p:cNvSpPr txBox="1"/>
              <p:nvPr/>
            </p:nvSpPr>
            <p:spPr>
              <a:xfrm>
                <a:off x="3634832" y="6305602"/>
                <a:ext cx="1179810" cy="3877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defTabSz="457200" fontAlgn="auto" hangingPunct="0">
                  <a:spcBef>
                    <a:spcPts val="0"/>
                  </a:spcBef>
                  <a:spcAft>
                    <a:spcPts val="0"/>
                  </a:spcAft>
                  <a:buClr>
                    <a:srgbClr val="0433FF"/>
                  </a:buClr>
                </a:pPr>
                <a14:m>
                  <m:oMath xmlns:m="http://schemas.openxmlformats.org/officeDocument/2006/math">
                    <m:r>
                      <a:rPr lang="zh-CN" altLang="en-US" sz="2520" i="1" kern="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sym typeface="Lucida Bright"/>
                      </a:rPr>
                      <m:t>⊇</m:t>
                    </m:r>
                  </m:oMath>
                </a14:m>
                <a:r>
                  <a:rPr lang="zh-CN" altLang="en-US" sz="2520" kern="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Lucida Bright"/>
                    <a:ea typeface="+mn-ea"/>
                    <a:sym typeface="Lucida Bright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Lucida Bright"/>
                    <a:ea typeface="+mn-ea"/>
                    <a:sym typeface="Lucida Bright"/>
                  </a:rPr>
                  <a:t>(</a:t>
                </a:r>
                <a:r>
                  <a:rPr lang="zh-CN" altLang="en-US" kern="0" dirty="0">
                    <a:solidFill>
                      <a:srgbClr val="FF0000"/>
                    </a:solidFill>
                    <a:uFill>
                      <a:solidFill>
                        <a:srgbClr val="000000"/>
                      </a:solidFill>
                    </a:uFill>
                    <a:latin typeface="Lucida Bright"/>
                    <a:ea typeface="+mn-ea"/>
                    <a:sym typeface="Lucida Bright"/>
                  </a:rPr>
                  <a:t>可靠性</a:t>
                </a:r>
                <a:r>
                  <a:rPr lang="en-US" altLang="zh-CN" kern="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Lucida Bright"/>
                    <a:ea typeface="+mn-ea"/>
                    <a:sym typeface="Lucida Bright"/>
                  </a:rPr>
                  <a:t>)</a:t>
                </a:r>
                <a:endParaRPr lang="zh-CN" altLang="en-US" sz="2520" kern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Lucida Bright"/>
                  <a:ea typeface="+mn-ea"/>
                  <a:sym typeface="Lucida Bright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63DBA3B-0B5A-403F-934E-809C5AA7C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832" y="6305602"/>
                <a:ext cx="1179810" cy="387798"/>
              </a:xfrm>
              <a:prstGeom prst="rect">
                <a:avLst/>
              </a:prstGeom>
              <a:blipFill>
                <a:blip r:embed="rId3"/>
                <a:stretch>
                  <a:fillRect r="-11856" b="-3125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D72F1EB-8251-4131-8620-886322F269F3}"/>
                  </a:ext>
                </a:extLst>
              </p:cNvPr>
              <p:cNvSpPr/>
              <p:nvPr/>
            </p:nvSpPr>
            <p:spPr>
              <a:xfrm>
                <a:off x="3551733" y="5834705"/>
                <a:ext cx="1364476" cy="4801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 fontAlgn="auto" hangingPunct="0">
                  <a:spcBef>
                    <a:spcPts val="0"/>
                  </a:spcBef>
                  <a:spcAft>
                    <a:spcPts val="0"/>
                  </a:spcAft>
                  <a:buClr>
                    <a:srgbClr val="0433FF"/>
                  </a:buClr>
                </a:pPr>
                <a14:m>
                  <m:oMath xmlns:m="http://schemas.openxmlformats.org/officeDocument/2006/math">
                    <m:r>
                      <a:rPr lang="zh-CN" altLang="en-US" sz="2520" i="1" kern="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sym typeface="Lucida Bright"/>
                      </a:rPr>
                      <m:t>⊆</m:t>
                    </m:r>
                  </m:oMath>
                </a14:m>
                <a:r>
                  <a:rPr lang="zh-CN" altLang="en-US" sz="2520" kern="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Lucida Bright"/>
                    <a:sym typeface="Lucida Bright"/>
                  </a:rPr>
                  <a:t> </a:t>
                </a:r>
                <a:r>
                  <a:rPr lang="en-US" altLang="zh-CN" kern="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Lucida Bright"/>
                    <a:sym typeface="Lucida Bright"/>
                  </a:rPr>
                  <a:t>(</a:t>
                </a:r>
                <a:r>
                  <a:rPr lang="zh-CN" altLang="en-US" kern="0" dirty="0">
                    <a:solidFill>
                      <a:srgbClr val="FF0000"/>
                    </a:solidFill>
                    <a:uFill>
                      <a:solidFill>
                        <a:srgbClr val="000000"/>
                      </a:solidFill>
                    </a:uFill>
                    <a:latin typeface="Lucida Bright"/>
                    <a:sym typeface="Lucida Bright"/>
                  </a:rPr>
                  <a:t>完备性</a:t>
                </a:r>
                <a:r>
                  <a:rPr lang="en-US" altLang="zh-CN" kern="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Lucida Bright"/>
                    <a:sym typeface="Lucida Bright"/>
                  </a:rPr>
                  <a:t>)</a:t>
                </a:r>
                <a:endParaRPr lang="zh-CN" altLang="en-US" sz="2520" kern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Lucida Bright"/>
                  <a:sym typeface="Lucida Bright"/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D72F1EB-8251-4131-8620-886322F269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733" y="5834705"/>
                <a:ext cx="1364476" cy="480131"/>
              </a:xfrm>
              <a:prstGeom prst="rect">
                <a:avLst/>
              </a:prstGeom>
              <a:blipFill>
                <a:blip r:embed="rId4"/>
                <a:stretch>
                  <a:fillRect r="-3587" b="-15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4889A9B-603B-43CD-84A8-CC13FEFBC500}"/>
                  </a:ext>
                </a:extLst>
              </p:cNvPr>
              <p:cNvSpPr/>
              <p:nvPr/>
            </p:nvSpPr>
            <p:spPr>
              <a:xfrm>
                <a:off x="2148540" y="4888175"/>
                <a:ext cx="514885" cy="4801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 fontAlgn="auto" hangingPunct="0">
                  <a:spcBef>
                    <a:spcPts val="0"/>
                  </a:spcBef>
                  <a:spcAft>
                    <a:spcPts val="0"/>
                  </a:spcAft>
                  <a:buClr>
                    <a:srgbClr val="0433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520" i="1" kern="0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Lucida Bright"/>
                        </a:rPr>
                        <m:t>⊨</m:t>
                      </m:r>
                    </m:oMath>
                  </m:oMathPara>
                </a14:m>
                <a:endParaRPr lang="zh-CN" altLang="en-US" sz="2520" kern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Lucida Bright"/>
                  <a:sym typeface="Lucida Bright"/>
                </a:endParaRP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4889A9B-603B-43CD-84A8-CC13FEFBC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40" y="4888175"/>
                <a:ext cx="514885" cy="4801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5A13BD73-42F8-4426-8ECF-BDC0CBBC145B}"/>
                  </a:ext>
                </a:extLst>
              </p:cNvPr>
              <p:cNvSpPr/>
              <p:nvPr/>
            </p:nvSpPr>
            <p:spPr>
              <a:xfrm>
                <a:off x="5553729" y="4919716"/>
                <a:ext cx="500458" cy="4801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 fontAlgn="auto" hangingPunct="0">
                  <a:spcBef>
                    <a:spcPts val="0"/>
                  </a:spcBef>
                  <a:spcAft>
                    <a:spcPts val="0"/>
                  </a:spcAft>
                  <a:buClr>
                    <a:srgbClr val="0433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520" i="1" kern="0">
                          <a:solidFill>
                            <a:srgbClr val="000000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Lucida Bright"/>
                        </a:rPr>
                        <m:t>⊢</m:t>
                      </m:r>
                    </m:oMath>
                  </m:oMathPara>
                </a14:m>
                <a:endParaRPr lang="zh-CN" altLang="en-US" sz="2520" kern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Lucida Bright"/>
                  <a:sym typeface="Lucida Bright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5A13BD73-42F8-4426-8ECF-BDC0CBBC1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729" y="4919716"/>
                <a:ext cx="500458" cy="4801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灯片编号占位符 25">
            <a:extLst>
              <a:ext uri="{FF2B5EF4-FFF2-40B4-BE49-F238E27FC236}">
                <a16:creationId xmlns:a16="http://schemas.microsoft.com/office/drawing/2014/main" id="{D005AB4B-99A5-4071-9551-48AF990BF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532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模糊逻辑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199" y="1340768"/>
            <a:ext cx="8229601" cy="4790157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</a:pPr>
            <a:r>
              <a:rPr kumimoji="1" lang="zh-CN" altLang="en-US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模糊逻辑：定义模糊谓词、模糊量词、模糊修饰语等</a:t>
            </a:r>
          </a:p>
          <a:p>
            <a:pPr marL="0" indent="0"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  <a:buNone/>
            </a:pPr>
            <a:r>
              <a:rPr kumimoji="1" lang="zh-CN" altLang="en-US" sz="2000" dirty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     </a:t>
            </a:r>
            <a:endParaRPr kumimoji="1" lang="en-US" altLang="zh-CN" sz="2000" dirty="0">
              <a:solidFill>
                <a:srgbClr val="A50021"/>
              </a:solidFill>
              <a:latin typeface="Times New Roman" pitchFamily="18" charset="0"/>
              <a:ea typeface="楷体_GB2312" pitchFamily="49" charset="-122"/>
            </a:endParaRPr>
          </a:p>
          <a:p>
            <a:pPr marL="0" indent="0"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  <a:buNone/>
            </a:pPr>
            <a:r>
              <a:rPr kumimoji="1" lang="zh-CN" altLang="en-US" sz="2000" dirty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模糊谓词</a:t>
            </a:r>
          </a:p>
          <a:p>
            <a:pPr marL="0" indent="0"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  <a:buNone/>
            </a:pPr>
            <a:r>
              <a:rPr kumimoji="1" lang="zh-CN" altLang="en-US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    设</a:t>
            </a:r>
            <a:r>
              <a:rPr kumimoji="1" lang="en-US" altLang="zh-CN" sz="2000" dirty="0" err="1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x∈U</a:t>
            </a:r>
            <a:r>
              <a:rPr kumimoji="1" lang="zh-CN" altLang="en-US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F</a:t>
            </a:r>
            <a:r>
              <a:rPr kumimoji="1" lang="zh-CN" altLang="en-US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为模糊谓词，即</a:t>
            </a:r>
            <a:r>
              <a:rPr kumimoji="1" lang="en-US" altLang="zh-CN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U</a:t>
            </a:r>
            <a:r>
              <a:rPr kumimoji="1" lang="zh-CN" altLang="en-US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中的一个模糊关系，则模糊命题可表示 </a:t>
            </a:r>
            <a:endParaRPr kumimoji="1" lang="en-US" altLang="zh-CN" sz="2000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  <a:p>
            <a:pPr marL="0" indent="0"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  <a:buNone/>
            </a:pPr>
            <a:r>
              <a:rPr kumimoji="1" lang="en-US" altLang="zh-CN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 为</a:t>
            </a:r>
          </a:p>
          <a:p>
            <a:pPr marL="0" indent="0"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  <a:buNone/>
            </a:pPr>
            <a:r>
              <a:rPr kumimoji="1" lang="zh-CN" altLang="en-US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                             </a:t>
            </a:r>
            <a:r>
              <a:rPr kumimoji="1" lang="en-US" altLang="zh-CN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x  is  F</a:t>
            </a:r>
          </a:p>
          <a:p>
            <a:pPr marL="0" indent="0"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  <a:buNone/>
            </a:pPr>
            <a:r>
              <a:rPr kumimoji="1" lang="zh-CN" altLang="en-US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     其中的模糊谓词</a:t>
            </a:r>
            <a:r>
              <a:rPr kumimoji="1" lang="en-US" altLang="zh-CN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F</a:t>
            </a:r>
            <a:r>
              <a:rPr kumimoji="1" lang="zh-CN" altLang="en-US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可以是大、小、年轻、年老、冷、暖、长、短等。 </a:t>
            </a:r>
          </a:p>
          <a:p>
            <a:pPr marL="0" indent="0">
              <a:lnSpc>
                <a:spcPct val="105000"/>
              </a:lnSpc>
              <a:spcBef>
                <a:spcPct val="45000"/>
              </a:spcBef>
              <a:spcAft>
                <a:spcPct val="5000"/>
              </a:spcAft>
              <a:buNone/>
            </a:pPr>
            <a:r>
              <a:rPr kumimoji="1" lang="zh-CN" altLang="en-US" sz="2000" dirty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模糊量词</a:t>
            </a:r>
          </a:p>
          <a:p>
            <a:pPr marL="0" indent="0"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  <a:buNone/>
            </a:pPr>
            <a:r>
              <a:rPr kumimoji="1" lang="zh-CN" altLang="en-US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    模糊逻辑中使用的模糊量词，如极少、很少、几个、少数、多数、大</a:t>
            </a:r>
            <a:endParaRPr kumimoji="1" lang="en-US" altLang="zh-CN" sz="2000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  <a:p>
            <a:pPr marL="0" indent="0"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  <a:buNone/>
            </a:pPr>
            <a:r>
              <a:rPr kumimoji="1" lang="en-US" altLang="zh-CN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    </a:t>
            </a:r>
            <a:r>
              <a:rPr kumimoji="1" lang="zh-CN" altLang="en-US" sz="20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多数、几乎所有等。</a:t>
            </a:r>
          </a:p>
          <a:p>
            <a:pPr marL="0" indent="0">
              <a:lnSpc>
                <a:spcPct val="105000"/>
              </a:lnSpc>
              <a:spcBef>
                <a:spcPct val="10000"/>
              </a:spcBef>
              <a:spcAft>
                <a:spcPct val="5000"/>
              </a:spcAft>
              <a:buNone/>
            </a:pPr>
            <a:endParaRPr lang="en-US" altLang="zh-CN" sz="2000" b="0" dirty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9A8108-A8A4-42C7-9183-D2A18C80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329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模糊逻辑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70857" y="980728"/>
            <a:ext cx="8229601" cy="5877272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1800" dirty="0">
                <a:solidFill>
                  <a:srgbClr val="CC0000"/>
                </a:solidFill>
                <a:latin typeface="Times New Roman" pitchFamily="18" charset="0"/>
                <a:ea typeface="楷体_GB2312" pitchFamily="49" charset="-122"/>
              </a:rPr>
              <a:t>模糊修饰语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   设</a:t>
            </a:r>
            <a:r>
              <a:rPr kumimoji="1" lang="en-US" altLang="zh-CN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zh-CN" altLang="en-US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是模糊修饰语，</a:t>
            </a:r>
            <a:r>
              <a:rPr kumimoji="1" lang="en-US" altLang="zh-CN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zh-CN" altLang="en-US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是变量，</a:t>
            </a:r>
            <a:r>
              <a:rPr kumimoji="1" lang="en-US" altLang="zh-CN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F</a:t>
            </a:r>
            <a:r>
              <a:rPr kumimoji="1" lang="zh-CN" altLang="en-US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谓模糊谓词，则模糊命题可表示为    </a:t>
            </a:r>
            <a:r>
              <a:rPr kumimoji="1" lang="en-US" altLang="zh-CN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x  is  mF</a:t>
            </a:r>
            <a:r>
              <a:rPr kumimoji="1" lang="zh-CN" altLang="en-US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，模糊修饰语也称为程度词，常用的程度词有“很”、“非常”、“有些”、“绝对”等。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1800" dirty="0">
                <a:solidFill>
                  <a:srgbClr val="CC0000"/>
                </a:solidFill>
                <a:latin typeface="Times New Roman" pitchFamily="18" charset="0"/>
                <a:ea typeface="楷体_GB2312" pitchFamily="49" charset="-122"/>
              </a:rPr>
              <a:t>    模糊修饰语的四种主要运算：</a:t>
            </a:r>
          </a:p>
          <a:p>
            <a:pPr>
              <a:spcBef>
                <a:spcPct val="5000"/>
              </a:spcBef>
            </a:pPr>
            <a:r>
              <a:rPr kumimoji="1" lang="zh-CN" altLang="en-US" sz="1800" dirty="0">
                <a:solidFill>
                  <a:srgbClr val="D60093"/>
                </a:solidFill>
                <a:latin typeface="Times New Roman" pitchFamily="18" charset="0"/>
                <a:ea typeface="楷体_GB2312" pitchFamily="49" charset="-122"/>
              </a:rPr>
              <a:t>    ① 求补</a:t>
            </a:r>
            <a:r>
              <a:rPr kumimoji="1" lang="zh-CN" altLang="en-US" sz="1800" dirty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   </a:t>
            </a:r>
            <a:r>
              <a:rPr kumimoji="1" lang="zh-CN" altLang="en-US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表示否定，如“不”、“非”等，其隶属函数的表示为</a:t>
            </a:r>
            <a:endParaRPr kumimoji="1" lang="en-US" altLang="zh-CN" sz="1800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"/>
              </a:spcBef>
            </a:pPr>
            <a:endParaRPr kumimoji="1" lang="en-US" altLang="zh-CN" sz="1800" b="0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"/>
              </a:spcBef>
            </a:pPr>
            <a:endParaRPr kumimoji="1" lang="en-US" altLang="zh-CN" sz="1800" b="0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"/>
              </a:spcBef>
            </a:pPr>
            <a:r>
              <a:rPr kumimoji="1" lang="en-US" altLang="zh-CN" sz="1800" dirty="0">
                <a:solidFill>
                  <a:srgbClr val="D60093"/>
                </a:solidFill>
                <a:latin typeface="Times New Roman" pitchFamily="18" charset="0"/>
                <a:ea typeface="楷体_GB2312" pitchFamily="49" charset="-122"/>
              </a:rPr>
              <a:t>    ② </a:t>
            </a:r>
            <a:r>
              <a:rPr kumimoji="1" lang="zh-CN" altLang="en-US" sz="1800" dirty="0">
                <a:solidFill>
                  <a:srgbClr val="D60093"/>
                </a:solidFill>
                <a:latin typeface="Times New Roman" pitchFamily="18" charset="0"/>
                <a:ea typeface="楷体_GB2312" pitchFamily="49" charset="-122"/>
              </a:rPr>
              <a:t>集中</a:t>
            </a:r>
            <a:r>
              <a:rPr kumimoji="1" lang="zh-CN" altLang="en-US" sz="1800" dirty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  </a:t>
            </a:r>
            <a:r>
              <a:rPr kumimoji="1" lang="zh-CN" altLang="en-US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表示“很”、“非常”等，其效果是减少隶属函数的值：</a:t>
            </a:r>
            <a:endParaRPr kumimoji="1" lang="en-US" altLang="zh-CN" sz="1800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"/>
              </a:spcBef>
            </a:pPr>
            <a:endParaRPr kumimoji="1" lang="en-US" altLang="zh-CN" sz="1800" b="0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"/>
              </a:spcBef>
            </a:pPr>
            <a:endParaRPr kumimoji="1" lang="en-US" altLang="zh-CN" sz="1800" b="0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"/>
              </a:spcBef>
            </a:pPr>
            <a:r>
              <a:rPr kumimoji="1" lang="en-US" altLang="zh-CN" sz="1800" dirty="0">
                <a:solidFill>
                  <a:srgbClr val="D60093"/>
                </a:solidFill>
                <a:latin typeface="Times New Roman" pitchFamily="18" charset="0"/>
                <a:ea typeface="楷体_GB2312" pitchFamily="49" charset="-122"/>
              </a:rPr>
              <a:t>    ③ </a:t>
            </a:r>
            <a:r>
              <a:rPr kumimoji="1" lang="zh-CN" altLang="en-US" sz="1800" dirty="0">
                <a:solidFill>
                  <a:srgbClr val="D60093"/>
                </a:solidFill>
                <a:latin typeface="Times New Roman" pitchFamily="18" charset="0"/>
                <a:ea typeface="楷体_GB2312" pitchFamily="49" charset="-122"/>
              </a:rPr>
              <a:t>扩张</a:t>
            </a:r>
            <a:r>
              <a:rPr kumimoji="1" lang="zh-CN" altLang="en-US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 表示“有些”、“稍微”等，其效果是增加隶属函数的值：</a:t>
            </a:r>
            <a:endParaRPr kumimoji="1" lang="en-US" altLang="zh-CN" sz="1800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"/>
              </a:spcBef>
            </a:pPr>
            <a:endParaRPr kumimoji="1" lang="en-US" altLang="zh-CN" sz="1800" b="0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"/>
              </a:spcBef>
            </a:pPr>
            <a:endParaRPr kumimoji="1" lang="en-US" altLang="zh-CN" sz="1800" b="0" dirty="0">
              <a:solidFill>
                <a:srgbClr val="0000CC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"/>
              </a:spcBef>
            </a:pPr>
            <a:r>
              <a:rPr kumimoji="1" lang="en-US" altLang="zh-CN" sz="1800" dirty="0">
                <a:solidFill>
                  <a:srgbClr val="D60093"/>
                </a:solidFill>
                <a:latin typeface="Times New Roman" pitchFamily="18" charset="0"/>
                <a:ea typeface="楷体_GB2312" pitchFamily="49" charset="-122"/>
              </a:rPr>
              <a:t>    ④ </a:t>
            </a:r>
            <a:r>
              <a:rPr kumimoji="1" lang="zh-CN" altLang="en-US" sz="1800" dirty="0">
                <a:solidFill>
                  <a:srgbClr val="D60093"/>
                </a:solidFill>
                <a:latin typeface="Times New Roman" pitchFamily="18" charset="0"/>
                <a:ea typeface="楷体_GB2312" pitchFamily="49" charset="-122"/>
              </a:rPr>
              <a:t>加强对比</a:t>
            </a:r>
            <a:r>
              <a:rPr kumimoji="1" lang="zh-CN" altLang="en-US" sz="1800" dirty="0">
                <a:latin typeface="Times New Roman" pitchFamily="18" charset="0"/>
                <a:ea typeface="楷体_GB2312" pitchFamily="49" charset="-122"/>
              </a:rPr>
              <a:t>  </a:t>
            </a:r>
            <a:r>
              <a:rPr kumimoji="1" lang="zh-CN" altLang="en-US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表示“明确”、“确定”等，其效果是增加</a:t>
            </a:r>
            <a:r>
              <a:rPr kumimoji="1" lang="en-US" altLang="zh-CN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0.5</a:t>
            </a:r>
            <a:r>
              <a:rPr kumimoji="1" lang="zh-CN" altLang="en-US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以上隶属函数的值，减少</a:t>
            </a:r>
            <a:r>
              <a:rPr kumimoji="1" lang="en-US" altLang="zh-CN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0.5</a:t>
            </a:r>
            <a:r>
              <a:rPr kumimoji="1" lang="zh-CN" altLang="en-US" sz="1800" dirty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以下隶属函数的值：</a:t>
            </a:r>
            <a:endParaRPr lang="en-US" altLang="zh-CN" sz="1800" b="0" dirty="0">
              <a:latin typeface="Arial" pitchFamily="34" charset="0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A315F1C2-E944-442C-981A-A2EEC3848A5E}"/>
                  </a:ext>
                </a:extLst>
              </p:cNvPr>
              <p:cNvSpPr txBox="1"/>
              <p:nvPr/>
            </p:nvSpPr>
            <p:spPr bwMode="auto">
              <a:xfrm>
                <a:off x="2305138" y="3051464"/>
                <a:ext cx="3887788" cy="4635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非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)=1−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A315F1C2-E944-442C-981A-A2EEC3848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5138" y="3051464"/>
                <a:ext cx="3887788" cy="463550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99EC5CE6-4B78-432C-BD08-4CE9516E6204}"/>
                  </a:ext>
                </a:extLst>
              </p:cNvPr>
              <p:cNvSpPr txBox="1"/>
              <p:nvPr/>
            </p:nvSpPr>
            <p:spPr bwMode="auto">
              <a:xfrm>
                <a:off x="2305138" y="3970162"/>
                <a:ext cx="4826000" cy="4714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非常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99EC5CE6-4B78-432C-BD08-4CE9516E6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5138" y="3970162"/>
                <a:ext cx="4826000" cy="471488"/>
              </a:xfrm>
              <a:prstGeom prst="rect">
                <a:avLst/>
              </a:prstGeom>
              <a:blipFill>
                <a:blip r:embed="rId4"/>
                <a:stretch>
                  <a:fillRect b="-8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D3562D97-CFD8-49A0-AD71-2A2FDC2FA5FA}"/>
                  </a:ext>
                </a:extLst>
              </p:cNvPr>
              <p:cNvSpPr txBox="1"/>
              <p:nvPr/>
            </p:nvSpPr>
            <p:spPr bwMode="auto">
              <a:xfrm>
                <a:off x="2305138" y="4749294"/>
                <a:ext cx="4573588" cy="6223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有些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D3562D97-CFD8-49A0-AD71-2A2FDC2FA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5138" y="4749294"/>
                <a:ext cx="4573588" cy="622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74793157-701E-4EBB-B9DB-3117D8CE994B}"/>
                  </a:ext>
                </a:extLst>
              </p:cNvPr>
              <p:cNvSpPr txBox="1"/>
              <p:nvPr/>
            </p:nvSpPr>
            <p:spPr bwMode="auto">
              <a:xfrm>
                <a:off x="1835696" y="5990857"/>
                <a:ext cx="6588125" cy="8350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确实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  <m:e/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若</m:t>
                                    </m:r>
                                    <m: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sub>
                                    </m:s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)≤0.5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&amp;1−2(1−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</m:mr>
                              </m: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0.5&lt;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)≤1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74793157-701E-4EBB-B9DB-3117D8CE9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696" y="5990857"/>
                <a:ext cx="6588125" cy="8350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4F40B5-7C03-4B44-8439-D656077E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524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模糊逻辑知识表示举例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13287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kumimoji="1" lang="zh-CN" altLang="en-US" sz="3200" dirty="0">
                <a:solidFill>
                  <a:srgbClr val="D60093"/>
                </a:solidFill>
                <a:latin typeface="Times New Roman" pitchFamily="18" charset="0"/>
                <a:ea typeface="楷体_GB2312" pitchFamily="49" charset="-122"/>
              </a:rPr>
              <a:t>大多数成绩好的学生学习都很刻苦。</a:t>
            </a:r>
          </a:p>
          <a:p>
            <a:pPr>
              <a:lnSpc>
                <a:spcPct val="105000"/>
              </a:lnSpc>
            </a:pPr>
            <a:r>
              <a:rPr kumimoji="1" lang="zh-CN" altLang="en-US" sz="3200" dirty="0">
                <a:solidFill>
                  <a:srgbClr val="D60093"/>
                </a:solidFill>
                <a:latin typeface="Times New Roman" pitchFamily="18" charset="0"/>
                <a:ea typeface="楷体_GB2312" pitchFamily="49" charset="-122"/>
              </a:rPr>
              <a:t>很少有成绩好的学生特别贪玩。</a:t>
            </a:r>
            <a:endParaRPr kumimoji="1" lang="en-US" altLang="zh-CN" sz="3200" dirty="0">
              <a:solidFill>
                <a:srgbClr val="D60093"/>
              </a:solidFill>
              <a:latin typeface="Times New Roman" pitchFamily="18" charset="0"/>
              <a:ea typeface="楷体_GB2312" pitchFamily="49" charset="-122"/>
            </a:endParaRPr>
          </a:p>
          <a:p>
            <a:endParaRPr lang="en-US" altLang="zh-CN" b="0" dirty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DD1728-6788-4D60-933C-89A2AB7FEC9C}"/>
              </a:ext>
            </a:extLst>
          </p:cNvPr>
          <p:cNvSpPr txBox="1"/>
          <p:nvPr/>
        </p:nvSpPr>
        <p:spPr>
          <a:xfrm>
            <a:off x="863588" y="3609020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分别刻画模糊谓词、模糊修饰词、模糊量词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107438-013B-4443-B3E9-54290F95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305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Times New Roman" pitchFamily="18" charset="0"/>
                <a:ea typeface="黑体" pitchFamily="49" charset="-122"/>
              </a:rPr>
              <a:t>模糊集的应用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/>
          <a:lstStyle/>
          <a:p>
            <a:r>
              <a:rPr lang="zh-CN" altLang="en-US" dirty="0"/>
              <a:t>模式识别</a:t>
            </a:r>
          </a:p>
          <a:p>
            <a:pPr lvl="1"/>
            <a:r>
              <a:rPr lang="zh-CN" altLang="en-US" dirty="0"/>
              <a:t>图像</a:t>
            </a:r>
          </a:p>
          <a:p>
            <a:pPr lvl="1"/>
            <a:r>
              <a:rPr lang="zh-CN" altLang="en-US" dirty="0"/>
              <a:t>视觉</a:t>
            </a:r>
          </a:p>
          <a:p>
            <a:pPr lvl="1"/>
            <a:r>
              <a:rPr lang="zh-CN" altLang="en-US" dirty="0"/>
              <a:t>语音识别</a:t>
            </a:r>
            <a:endParaRPr lang="en-US" altLang="zh-CN" dirty="0"/>
          </a:p>
          <a:p>
            <a:pPr lvl="1"/>
            <a:endParaRPr lang="zh-CN" altLang="en-US" sz="800" dirty="0"/>
          </a:p>
          <a:p>
            <a:r>
              <a:rPr lang="zh-CN" altLang="en-US" dirty="0"/>
              <a:t>智能控制</a:t>
            </a:r>
          </a:p>
          <a:p>
            <a:pPr lvl="1"/>
            <a:r>
              <a:rPr lang="zh-CN" altLang="en-US" dirty="0"/>
              <a:t>智能家电</a:t>
            </a:r>
            <a:r>
              <a:rPr lang="en-US" altLang="zh-CN" dirty="0"/>
              <a:t>…</a:t>
            </a:r>
          </a:p>
          <a:p>
            <a:pPr lvl="2"/>
            <a:r>
              <a:rPr lang="zh-CN" altLang="en-US" dirty="0"/>
              <a:t>洗衣机、摄像机、照相机、电饭锅、空调、电梯</a:t>
            </a:r>
          </a:p>
          <a:p>
            <a:pPr lvl="1"/>
            <a:r>
              <a:rPr lang="zh-CN" altLang="en-US" dirty="0"/>
              <a:t>日本</a:t>
            </a:r>
            <a:r>
              <a:rPr lang="en-US" altLang="zh-CN" dirty="0"/>
              <a:t>: </a:t>
            </a:r>
            <a:r>
              <a:rPr lang="zh-CN" altLang="en-US" dirty="0"/>
              <a:t>地铁列车自动运转，自来水厂净化处理</a:t>
            </a:r>
            <a:endParaRPr lang="en-US" altLang="zh-CN" dirty="0"/>
          </a:p>
          <a:p>
            <a:pPr lvl="1"/>
            <a:endParaRPr lang="zh-CN" altLang="en-US" sz="2800" b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EDF391D-7285-4D40-9C92-2518BCE7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644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kern="1200" dirty="0"/>
              <a:t>模糊数学领域</a:t>
            </a:r>
            <a:endParaRPr lang="zh-CN" altLang="en-US" sz="4000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20715" y="1072986"/>
            <a:ext cx="8229600" cy="4790157"/>
          </a:xfrm>
        </p:spPr>
        <p:txBody>
          <a:bodyPr/>
          <a:lstStyle/>
          <a:p>
            <a:pPr lvl="1">
              <a:spcBef>
                <a:spcPts val="1200"/>
              </a:spcBef>
            </a:pPr>
            <a:endParaRPr lang="en-US" altLang="zh-CN" sz="8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领域</a:t>
            </a:r>
            <a:endParaRPr lang="en-US" altLang="zh-CN" sz="2400" b="0" dirty="0">
              <a:latin typeface="Arial" pitchFamily="34" charset="0"/>
              <a:ea typeface="黑体" pitchFamily="49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en-US" sz="2000" b="0" dirty="0">
                <a:latin typeface="Arial" pitchFamily="34" charset="0"/>
                <a:ea typeface="黑体" pitchFamily="49" charset="-122"/>
              </a:rPr>
              <a:t>模糊代数，模糊拓扑，模糊逻辑，模糊分析，</a:t>
            </a:r>
          </a:p>
          <a:p>
            <a:pPr lvl="1">
              <a:spcBef>
                <a:spcPts val="1200"/>
              </a:spcBef>
            </a:pPr>
            <a:r>
              <a:rPr lang="zh-CN" altLang="en-US" sz="2000" b="0" dirty="0">
                <a:latin typeface="Arial" pitchFamily="34" charset="0"/>
                <a:ea typeface="黑体" pitchFamily="49" charset="-122"/>
              </a:rPr>
              <a:t>模糊概率，模糊图论，模糊优化等模糊数学分支</a:t>
            </a:r>
          </a:p>
          <a:p>
            <a:pPr>
              <a:spcBef>
                <a:spcPts val="1200"/>
              </a:spcBef>
            </a:pP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期刊</a:t>
            </a:r>
            <a:endParaRPr kumimoji="1" lang="en-US" altLang="zh-CN" sz="24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kumimoji="1" lang="en-US" altLang="zh-CN" sz="24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kumimoji="1" lang="en-US" altLang="zh-CN" sz="24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kumimoji="1" lang="en-US" altLang="zh-CN" sz="24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endParaRPr kumimoji="1" lang="en-US" altLang="zh-CN" sz="2400" b="0" dirty="0">
              <a:latin typeface="Arial" pitchFamily="34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r>
              <a:rPr kumimoji="1" lang="en-US" altLang="zh-CN" sz="2400" dirty="0"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dirty="0">
                <a:latin typeface="幼圆" pitchFamily="49" charset="-122"/>
                <a:ea typeface="幼圆" pitchFamily="49" charset="-122"/>
              </a:rPr>
              <a:t>国际会议</a:t>
            </a:r>
          </a:p>
          <a:p>
            <a:pPr>
              <a:spcBef>
                <a:spcPts val="1200"/>
              </a:spcBef>
            </a:pPr>
            <a:endParaRPr lang="en-US" altLang="zh-CN" sz="2400" b="0" dirty="0"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2FAA0C-CC56-4FEE-A650-330BEFEE6359}"/>
              </a:ext>
            </a:extLst>
          </p:cNvPr>
          <p:cNvGrpSpPr/>
          <p:nvPr/>
        </p:nvGrpSpPr>
        <p:grpSpPr>
          <a:xfrm>
            <a:off x="1043608" y="3356992"/>
            <a:ext cx="6564132" cy="3381194"/>
            <a:chOff x="1051511" y="1715865"/>
            <a:chExt cx="6564132" cy="3597218"/>
          </a:xfrm>
        </p:grpSpPr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89DC1A8F-2A94-4FDD-820F-76B0F03CEE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408" y="2062009"/>
              <a:ext cx="383310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200" i="1" dirty="0">
                  <a:solidFill>
                    <a:srgbClr val="3333FF"/>
                  </a:solidFill>
                  <a:latin typeface="Times New Roman" pitchFamily="18" charset="0"/>
                </a:rPr>
                <a:t>Int. J. of Fuzzy Sets and Systems</a:t>
              </a: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8356FC3E-FA46-4587-8F13-F9EE2008A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769" y="2456892"/>
              <a:ext cx="389933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200" i="1" dirty="0">
                  <a:solidFill>
                    <a:srgbClr val="3333FF"/>
                  </a:solidFill>
                  <a:latin typeface="Times New Roman" pitchFamily="18" charset="0"/>
                </a:rPr>
                <a:t>Int. J. of Approximate Reasoning</a:t>
              </a: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912AF5BB-CF46-4BC2-BCD5-BF1A84615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1511" y="2888940"/>
              <a:ext cx="3090911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200" i="1" dirty="0">
                  <a:solidFill>
                    <a:srgbClr val="3333FF"/>
                  </a:solidFill>
                  <a:latin typeface="Times New Roman" pitchFamily="18" charset="0"/>
                </a:rPr>
                <a:t>Int. J. Fuzzy Mathematics</a:t>
              </a:r>
            </a:p>
          </p:txBody>
        </p: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9DE41C65-696B-4368-9AE0-A197BBD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636" y="3356992"/>
              <a:ext cx="653300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200" i="1" dirty="0">
                  <a:solidFill>
                    <a:srgbClr val="3333FF"/>
                  </a:solidFill>
                  <a:latin typeface="Times New Roman" pitchFamily="18" charset="0"/>
                </a:rPr>
                <a:t>Int. J. Uncertainty, Fuzziness, knowledge-based Systems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1DC933B6-8450-4995-83CC-7BB88401B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658" y="1715865"/>
              <a:ext cx="4556825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200" b="1" i="1" dirty="0">
                  <a:solidFill>
                    <a:srgbClr val="3333FF"/>
                  </a:solidFill>
                  <a:latin typeface="Times New Roman" pitchFamily="18" charset="0"/>
                </a:rPr>
                <a:t>IEEE Transactions on Fuzzy Systems</a:t>
              </a:r>
            </a:p>
          </p:txBody>
        </p:sp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E002861D-64E2-4C7A-ACA6-EFF0FBD42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792" y="4451309"/>
              <a:ext cx="4476995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200" i="1" dirty="0">
                  <a:solidFill>
                    <a:srgbClr val="7030A0"/>
                  </a:solidFill>
                  <a:latin typeface="Times New Roman" pitchFamily="18" charset="0"/>
                </a:rPr>
                <a:t>IFSA (Int. Fuzzy Systems Association)</a:t>
              </a:r>
            </a:p>
          </p:txBody>
        </p:sp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01D9B286-C21D-4B77-8FD2-E8B14898FF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792" y="4882196"/>
              <a:ext cx="470673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200" i="1" dirty="0">
                  <a:solidFill>
                    <a:srgbClr val="7030A0"/>
                  </a:solidFill>
                  <a:latin typeface="Times New Roman" pitchFamily="18" charset="0"/>
                </a:rPr>
                <a:t>EUFIT</a:t>
              </a:r>
              <a:r>
                <a:rPr kumimoji="1" lang="zh-CN" altLang="en-US" sz="2200" i="1" dirty="0">
                  <a:solidFill>
                    <a:srgbClr val="7030A0"/>
                  </a:solidFill>
                  <a:latin typeface="Times New Roman" pitchFamily="18" charset="0"/>
                </a:rPr>
                <a:t>、</a:t>
              </a:r>
              <a:r>
                <a:rPr kumimoji="1" lang="en-US" altLang="zh-CN" sz="2200" i="1" dirty="0">
                  <a:solidFill>
                    <a:srgbClr val="7030A0"/>
                  </a:solidFill>
                  <a:latin typeface="Times New Roman" pitchFamily="18" charset="0"/>
                </a:rPr>
                <a:t>NAFIP</a:t>
              </a:r>
              <a:r>
                <a:rPr kumimoji="1" lang="zh-CN" altLang="en-US" sz="2200" i="1" dirty="0">
                  <a:solidFill>
                    <a:srgbClr val="7030A0"/>
                  </a:solidFill>
                  <a:latin typeface="Times New Roman" pitchFamily="18" charset="0"/>
                </a:rPr>
                <a:t>、</a:t>
              </a:r>
              <a:r>
                <a:rPr kumimoji="1" lang="en-US" altLang="zh-CN" sz="2200" i="1" dirty="0">
                  <a:solidFill>
                    <a:srgbClr val="7030A0"/>
                  </a:solidFill>
                  <a:latin typeface="Times New Roman" pitchFamily="18" charset="0"/>
                </a:rPr>
                <a:t>Fuzzy-IEEE</a:t>
              </a:r>
              <a:r>
                <a:rPr kumimoji="1" lang="zh-CN" altLang="en-US" sz="2200" i="1" dirty="0">
                  <a:solidFill>
                    <a:srgbClr val="7030A0"/>
                  </a:solidFill>
                  <a:latin typeface="Times New Roman" pitchFamily="18" charset="0"/>
                </a:rPr>
                <a:t>、</a:t>
              </a:r>
              <a:r>
                <a:rPr kumimoji="1" lang="en-US" altLang="zh-CN" sz="2200" i="1" dirty="0">
                  <a:solidFill>
                    <a:srgbClr val="7030A0"/>
                  </a:solidFill>
                  <a:latin typeface="Times New Roman" pitchFamily="18" charset="0"/>
                </a:rPr>
                <a:t>IPMU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4451B0-DB35-4F3E-AF6A-B70A4D4D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09B2-4306-46CD-9424-9DB79656E1A9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769945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黑体"/>
        <a:ea typeface="黑体"/>
        <a:cs typeface=""/>
      </a:majorFont>
      <a:minorFont>
        <a:latin typeface="Arial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CC">
            <a:alpha val="8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CC">
            <a:alpha val="8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7944</TotalTime>
  <Words>3472</Words>
  <Application>Microsoft Office PowerPoint</Application>
  <PresentationFormat>全屏显示(4:3)</PresentationFormat>
  <Paragraphs>349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7" baseType="lpstr">
      <vt:lpstr>方正卡通简体</vt:lpstr>
      <vt:lpstr>方正姚体</vt:lpstr>
      <vt:lpstr>仿宋_GB2312</vt:lpstr>
      <vt:lpstr>黑体</vt:lpstr>
      <vt:lpstr>宋体</vt:lpstr>
      <vt:lpstr>微软雅黑</vt:lpstr>
      <vt:lpstr>幼圆</vt:lpstr>
      <vt:lpstr>Arial</vt:lpstr>
      <vt:lpstr>Calibri</vt:lpstr>
      <vt:lpstr>Cambria Math</vt:lpstr>
      <vt:lpstr>Garamond</vt:lpstr>
      <vt:lpstr>Lucida Bright</vt:lpstr>
      <vt:lpstr>Tahoma</vt:lpstr>
      <vt:lpstr>Times New Roman</vt:lpstr>
      <vt:lpstr>Wingdings</vt:lpstr>
      <vt:lpstr>Edge</vt:lpstr>
      <vt:lpstr>默认设计模板</vt:lpstr>
      <vt:lpstr>人工智能</vt:lpstr>
      <vt:lpstr>模糊计算</vt:lpstr>
      <vt:lpstr>模糊计算</vt:lpstr>
      <vt:lpstr>模糊计算</vt:lpstr>
      <vt:lpstr>模糊计算</vt:lpstr>
      <vt:lpstr>模糊集的定义</vt:lpstr>
      <vt:lpstr>模糊集的定义</vt:lpstr>
      <vt:lpstr>随机与模糊：是否与多少</vt:lpstr>
      <vt:lpstr>模糊集的表示</vt:lpstr>
      <vt:lpstr>模糊集的表示</vt:lpstr>
      <vt:lpstr>模糊集的表示</vt:lpstr>
      <vt:lpstr>模糊集的运算</vt:lpstr>
      <vt:lpstr>模糊集的运算</vt:lpstr>
      <vt:lpstr>模糊集的运算</vt:lpstr>
      <vt:lpstr>“又矮又瘦”</vt:lpstr>
      <vt:lpstr>描述数据</vt:lpstr>
      <vt:lpstr>“大多在70分左右，个别在80分以上”</vt:lpstr>
      <vt:lpstr>对分数问题的分析</vt:lpstr>
      <vt:lpstr>模糊关系的定义</vt:lpstr>
      <vt:lpstr>模糊关系的定义</vt:lpstr>
      <vt:lpstr>模糊关系的定义</vt:lpstr>
      <vt:lpstr>模糊关系的合成</vt:lpstr>
      <vt:lpstr>模糊关系合成举例</vt:lpstr>
      <vt:lpstr>模糊关系的合成</vt:lpstr>
      <vt:lpstr>逻辑研究的内容</vt:lpstr>
      <vt:lpstr>模糊逻辑</vt:lpstr>
      <vt:lpstr>模糊逻辑</vt:lpstr>
      <vt:lpstr>模糊逻辑知识表示举例</vt:lpstr>
      <vt:lpstr>模糊集的应用</vt:lpstr>
      <vt:lpstr>模糊数学领域</vt:lpstr>
    </vt:vector>
  </TitlesOfParts>
  <Company>Institute of Computing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申请“学术百星”  答辩报告</dc:title>
  <dc:creator>Hua-Wei Shen</dc:creator>
  <cp:lastModifiedBy>罗 平</cp:lastModifiedBy>
  <cp:revision>1049</cp:revision>
  <dcterms:created xsi:type="dcterms:W3CDTF">2011-11-22T05:18:04Z</dcterms:created>
  <dcterms:modified xsi:type="dcterms:W3CDTF">2022-11-17T12:01:29Z</dcterms:modified>
</cp:coreProperties>
</file>